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a86a060-c846-86c2-0c82-7ab25d8853f6}">
          <p14:sldIdLst>
            <p14:sldId id="256"/>
          </p14:sldIdLst>
        </p14:section>
        <p14:section name="The problem" id="{031a8528-4fbc-d563-bd9d-eb25d92814c2}">
          <p14:sldIdLst>
            <p14:sldId id="257"/>
          </p14:sldIdLst>
        </p14:section>
        <p14:section name="The solution" id="{b7df2574-f70c-8a98-3ccc-69b68f813ef0}">
          <p14:sldIdLst>
            <p14:sldId id="258"/>
            <p14:sldId id="259"/>
          </p14:sldIdLst>
        </p14:section>
        <p14:section name="Capabilities" id="{18033148-684b-ebed-68f5-ca30eb696a73}">
          <p14:sldIdLst>
            <p14:sldId id="260"/>
            <p14:sldId id="261"/>
          </p14:sldIdLst>
        </p14:section>
        <p14:section name="Proof" id="{22e82ae4-0a2e-a5b7-0a44-186e3c50462e}">
          <p14:sldIdLst>
            <p14:sldId id="262"/>
            <p14:sldId id="263"/>
          </p14:sldIdLst>
        </p14:section>
        <p14:section name="Trust" id="{40bec5c8-d32a-d8bc-ed9d-30ee41c10e8d}">
          <p14:sldIdLst>
            <p14:sldId id="264"/>
          </p14:sldIdLst>
        </p14:section>
        <p14:section name="Savings" id="{62f1213b-68e2-45d9-db3a-4fe1dbf2b88f}">
          <p14:sldIdLst>
            <p14:sldId id="265"/>
            <p14:sldId id="266"/>
            <p14:sldId id="267"/>
          </p14:sldIdLst>
        </p14:section>
        <p14:section name="Fit" id="{48b1862e-45ff-2cc6-7215-a88c7c830b62}">
          <p14:sldIdLst>
            <p14:sldId id="268"/>
            <p14:sldId id="269"/>
          </p14:sldIdLst>
        </p14:section>
        <p14:section name="Next steps" id="{b656ea07-7542-a0d6-934f-b1df84e942db}">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B3D3A"/>
                </a:solidFill>
                <a:latin typeface="+mn-lt"/>
              </a:defRPr>
            </a:pPr>
            <a:r>
              <a:rPr sz="1500" b="0" i="0" u="none" strike="noStrike">
                <a:solidFill>
                  <a:srgbClr val="0B3D3A"/>
                </a:solidFill>
                <a:latin typeface="+mn-lt"/>
              </a:rPr>
              <a:t>53 answer-key scenarios, first blind pass</a:t>
            </a:r>
          </a:p>
        </c:rich>
      </c:tx>
      <c:layout/>
      <c:overlay val="0"/>
    </c:title>
    <c:autoTitleDeleted val="0"/>
    <c:plotArea>
      <c:layout/>
      <c:doughnutChart>
        <c:varyColors val="1"/>
        <c:ser>
          <c:idx val="0"/>
          <c:order val="0"/>
          <c:tx>
            <c:strRef>
              <c:f>Sheet1!$B$1</c:f>
              <c:strCache>
                <c:ptCount val="1"/>
                <c:pt idx="0">
                  <c:v>First blind pass</c:v>
                </c:pt>
              </c:strCache>
            </c:strRef>
          </c:tx>
          <c:spPr>
            <a:solidFill>
              <a:schemeClr val="accent1"/>
            </a:solidFill>
            <a:ln w="9525" cap="flat">
              <a:solidFill>
                <a:srgbClr val="F9F9F9"/>
              </a:solidFill>
              <a:prstDash val="solid"/>
              <a:round/>
            </a:ln>
            <a:effectLst/>
          </c:spPr>
          <c:dPt>
            <c:idx val="0"/>
            <c:bubble3D val="0"/>
            <c:spPr>
              <a:solidFill>
                <a:srgbClr val="0B3D3A"/>
              </a:solidFill>
              <a:effectLst/>
            </c:spPr>
          </c:dPt>
          <c:dPt>
            <c:idx val="1"/>
            <c:bubble3D val="0"/>
            <c:spPr>
              <a:solidFill>
                <a:srgbClr val="C9A227"/>
              </a:solidFill>
              <a:effectLst/>
            </c:spPr>
          </c:dPt>
          <c:dPt>
            <c:idx val="2"/>
            <c:bubble3D val="0"/>
            <c:spPr>
              <a:solidFill>
                <a:srgbClr val="B5462F"/>
              </a:solidFill>
              <a:effectLst/>
            </c:spPr>
          </c:dPt>
          <c:dLbls>
            <c:dLbl>
              <c:idx val="0"/>
              <c:numFmt formatCode="General" sourceLinked="0"/>
              <c:spPr/>
              <c:txPr>
                <a:bodyPr/>
                <a:lstStyle/>
                <a:p>
                  <a:pPr>
                    <a:defRPr sz="1400" b="0"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400" b="0"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400" b="0"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Fully handled</c:v>
                </c:pt>
                <c:pt idx="1">
                  <c:v>Partly handled</c:v>
                </c:pt>
                <c:pt idx="2">
                  <c:v>Missed</c:v>
                </c:pt>
              </c:strCache>
            </c:strRef>
          </c:cat>
          <c:val>
            <c:numRef>
              <c:f>Sheet1!$B$2:$B$4</c:f>
              <c:numCache>
                <c:ptCount val="3"/>
                <c:pt idx="0">
                  <c:v>48</c:v>
                </c:pt>
                <c:pt idx="1">
                  <c:v>4</c:v>
                </c:pt>
                <c:pt idx="2">
                  <c:v>1</c:v>
                </c:pt>
              </c:numCache>
            </c:numRef>
          </c:val>
        </c:ser>
        <c:firstSliceAng val="0"/>
        <c:holeSize val="62"/>
      </c:doughnutChart>
      <c:spPr>
        <a:noFill/>
        <a:ln>
          <a:noFill/>
        </a:ln>
        <a:effectLst/>
      </c:spPr>
    </c:plotArea>
    <c:legend>
      <c:legendPos val="b"/>
      <c:overlay val="0"/>
      <c:txPr>
        <a:bodyPr/>
        <a:lstStyle/>
        <a:p>
          <a:pPr>
            <a:defRPr sz="1300">
              <a:solidFill>
                <a:srgbClr val="1F2A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B3D3A"/>
                </a:solidFill>
                <a:latin typeface="+mn-lt"/>
              </a:defRPr>
            </a:pPr>
            <a:r>
              <a:rPr sz="1500" b="0" i="0" u="none" strike="noStrike">
                <a:solidFill>
                  <a:srgbClr val="0B3D3A"/>
                </a:solidFill>
                <a:latin typeface="+mn-lt"/>
              </a:rPr>
              <a:t>Net leverage at year-end (stress-test group)</a:t>
            </a:r>
          </a:p>
        </c:rich>
      </c:tx>
      <c:layout/>
      <c:overlay val="0"/>
    </c:title>
    <c:autoTitleDeleted val="0"/>
    <c:plotArea>
      <c:layout/>
      <c:barChart>
        <c:barDir val="bar"/>
        <c:grouping val="clustered"/>
        <c:varyColors val="0"/>
        <c:ser>
          <c:idx val="0"/>
          <c:order val="0"/>
          <c:tx>
            <c:strRef>
              <c:f>Sheet1!$B$1</c:f>
              <c:strCache>
                <c:ptCount val="1"/>
                <c:pt idx="0">
                  <c:v>Net leverage</c:v>
                </c:pt>
              </c:strCache>
            </c:strRef>
          </c:tx>
          <c:spPr>
            <a:solidFill>
              <a:srgbClr val="5E6E73"/>
            </a:solidFill>
            <a:effectLst/>
          </c:spPr>
          <c:invertIfNegative val="0"/>
          <c:dLbls>
            <c:numFmt formatCode="0.00&quot;x&quot;" sourceLinked="0"/>
            <c:txPr>
              <a:bodyPr/>
              <a:lstStyle/>
              <a:p>
                <a:pPr>
                  <a:defRPr b="0" i="0" strike="noStrike" sz="1400" u="none">
                    <a:solidFill>
                      <a:srgbClr val="1F2A2E"/>
                    </a:solidFill>
                    <a:latin typeface="+mn-lt"/>
                  </a:defRPr>
                </a:pPr>
              </a:p>
            </c:txPr>
            <c:showLegendKey val="0"/>
            <c:showVal val="1"/>
            <c:showCatName val="0"/>
            <c:showSerName val="0"/>
            <c:showPercent val="0"/>
            <c:showBubbleSize val="0"/>
            <c:showLeaderLines val="0"/>
          </c:dLbls>
          <c:dPt>
            <c:idx val="0"/>
            <c:invertIfNegative val="0"/>
            <c:bubble3D val="0"/>
            <c:spPr>
              <a:solidFill>
                <a:srgbClr val="5E6E73"/>
              </a:solidFill>
              <a:effectLst/>
            </c:spPr>
          </c:dPt>
          <c:dPt>
            <c:idx val="1"/>
            <c:invertIfNegative val="0"/>
            <c:bubble3D val="0"/>
            <c:spPr>
              <a:solidFill>
                <a:srgbClr val="B5462F"/>
              </a:solidFill>
              <a:effectLst/>
            </c:spPr>
          </c:dPt>
          <c:dPt>
            <c:idx val="2"/>
            <c:invertIfNegative val="0"/>
            <c:bubble3D val="0"/>
            <c:spPr>
              <a:solidFill>
                <a:srgbClr val="0B3D3A"/>
              </a:solidFill>
              <a:effectLst/>
            </c:spPr>
          </c:dPt>
          <c:cat>
            <c:multiLvlStrRef>
              <c:f>Sheet1!$A$2:$A$4</c:f>
              <c:multiLvlStrCache>
                <c:ptCount val="3"/>
                <c:lvl>
                  <c:pt idx="0">
                    <c:v>Company-reported</c:v>
                  </c:pt>
                  <c:pt idx="1">
                    <c:v>Recomputed by the agent</c:v>
                  </c:pt>
                  <c:pt idx="2">
                    <c:v>Covenant limit</c:v>
                  </c:pt>
                </c:lvl>
              </c:multiLvlStrCache>
            </c:multiLvlStrRef>
          </c:cat>
          <c:val>
            <c:numRef>
              <c:f>Sheet1!$B$2:$B$4</c:f>
              <c:numCache>
                <c:formatCode>General</c:formatCode>
                <c:ptCount val="3"/>
                <c:pt idx="0">
                  <c:v>1.22</c:v>
                </c:pt>
                <c:pt idx="1">
                  <c:v>1.41</c:v>
                </c:pt>
                <c:pt idx="2">
                  <c:v>1.5</c:v>
                </c:pt>
              </c:numCache>
            </c:numRef>
          </c:val>
        </c:ser>
        <c:dLbls>
          <c:numFmt formatCode="0.00&quot;x&quot;" sourceLinked="0"/>
          <c:txPr>
            <a:bodyPr/>
            <a:lstStyle/>
            <a:p>
              <a:pPr>
                <a:defRPr b="0" i="0" strike="noStrike" sz="1400" u="none">
                  <a:solidFill>
                    <a:srgbClr val="1F2A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A2E"/>
                </a:solidFill>
                <a:latin typeface="+mn-lt"/>
              </a:defRPr>
            </a:pPr>
            <a:endParaRPr lang="en-US"/>
          </a:p>
        </c:txPr>
        <c:crossAx val="2094734552"/>
        <c:crosses val="autoZero"/>
        <c:auto val="1"/>
        <c:lblAlgn val="ctr"/>
        <c:noMultiLvlLbl val="1"/>
      </c:catAx>
      <c:valAx>
        <c:axId val="2094734552"/>
        <c:scaling>
          <c:orientation val="minMax"/>
          <c:max val="1.8"/>
          <c:min val="0"/>
        </c:scaling>
        <c:delete val="0"/>
        <c:axPos val="b"/>
        <c:majorGridlines>
          <c:spPr>
            <a:ln w="6350" cap="flat">
              <a:solidFill>
                <a:srgbClr val="E3E9E8"/>
              </a:solidFill>
              <a:prstDash val="solid"/>
              <a:round/>
            </a:ln>
          </c:spPr>
        </c:majorGridlines>
        <c:numFmt formatCode="0.0&quot;x&quot;" sourceLinked="0"/>
        <c:majorTickMark val="out"/>
        <c:minorTickMark val="none"/>
        <c:tickLblPos val="low"/>
        <c:spPr>
          <a:ln w="12700" cap="flat">
            <a:solidFill>
              <a:srgbClr val="888888"/>
            </a:solidFill>
            <a:prstDash val="solid"/>
            <a:round/>
          </a:ln>
        </c:spPr>
        <c:txPr>
          <a:bodyPr/>
          <a:lstStyle/>
          <a:p>
            <a:pPr>
              <a:defRPr sz="1200" b="0" i="0" u="none" strike="noStrike">
                <a:solidFill>
                  <a:srgbClr val="5E6E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B3D3A"/>
                </a:solidFill>
                <a:latin typeface="+mn-lt"/>
              </a:defRPr>
            </a:pPr>
            <a:r>
              <a:rPr sz="1500" b="0" i="0" u="none" strike="noStrike">
                <a:solidFill>
                  <a:srgbClr val="0B3D3A"/>
                </a:solidFill>
                <a:latin typeface="+mn-lt"/>
              </a:rPr>
              <a:t>Hours per engagement, by role (illustrative)</a:t>
            </a:r>
          </a:p>
        </c:rich>
      </c:tx>
      <c:layout/>
      <c:overlay val="0"/>
    </c:title>
    <c:autoTitleDeleted val="0"/>
    <c:plotArea>
      <c:layout/>
      <c:barChart>
        <c:barDir val="col"/>
        <c:grouping val="stacked"/>
        <c:varyColors val="0"/>
        <c:ser>
          <c:idx val="0"/>
          <c:order val="0"/>
          <c:tx>
            <c:strRef>
              <c:f>Sheet1!$B$1</c:f>
              <c:strCache>
                <c:ptCount val="1"/>
                <c:pt idx="0">
                  <c:v>Staff accountant</c:v>
                </c:pt>
              </c:strCache>
            </c:strRef>
          </c:tx>
          <c:spPr>
            <a:solidFill>
              <a:srgbClr val="8FB8B0"/>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Manual today</c:v>
                  </c:pt>
                  <c:pt idx="1">
                    <c:v>With the agent</c:v>
                  </c:pt>
                </c:lvl>
              </c:multiLvlStrCache>
            </c:multiLvlStrRef>
          </c:cat>
          <c:val>
            <c:numRef>
              <c:f>Sheet1!$B$2:$B$3</c:f>
              <c:numCache>
                <c:formatCode>General</c:formatCode>
                <c:ptCount val="2"/>
                <c:pt idx="0">
                  <c:v>18</c:v>
                </c:pt>
                <c:pt idx="1">
                  <c:v>3</c:v>
                </c:pt>
              </c:numCache>
            </c:numRef>
          </c:val>
        </c:ser>
        <c:ser>
          <c:idx val="1"/>
          <c:order val="1"/>
          <c:tx>
            <c:strRef>
              <c:f>Sheet1!$C$1</c:f>
              <c:strCache>
                <c:ptCount val="1"/>
                <c:pt idx="0">
                  <c:v>Senior</c:v>
                </c:pt>
              </c:strCache>
            </c:strRef>
          </c:tx>
          <c:spPr>
            <a:solidFill>
              <a:srgbClr val="3E7C74"/>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Manual today</c:v>
                  </c:pt>
                  <c:pt idx="1">
                    <c:v>With the agent</c:v>
                  </c:pt>
                </c:lvl>
              </c:multiLvlStrCache>
            </c:multiLvlStrRef>
          </c:cat>
          <c:val>
            <c:numRef>
              <c:f>Sheet1!$C$2:$C$3</c:f>
              <c:numCache>
                <c:formatCode>General</c:formatCode>
                <c:ptCount val="2"/>
                <c:pt idx="0">
                  <c:v>10</c:v>
                </c:pt>
                <c:pt idx="1">
                  <c:v>5</c:v>
                </c:pt>
              </c:numCache>
            </c:numRef>
          </c:val>
        </c:ser>
        <c:ser>
          <c:idx val="2"/>
          <c:order val="2"/>
          <c:tx>
            <c:strRef>
              <c:f>Sheet1!$D$1</c:f>
              <c:strCache>
                <c:ptCount val="1"/>
                <c:pt idx="0">
                  <c:v>Manager</c:v>
                </c:pt>
              </c:strCache>
            </c:strRef>
          </c:tx>
          <c:spPr>
            <a:solidFill>
              <a:srgbClr val="0B3D3A"/>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Manual today</c:v>
                  </c:pt>
                  <c:pt idx="1">
                    <c:v>With the agent</c:v>
                  </c:pt>
                </c:lvl>
              </c:multiLvlStrCache>
            </c:multiLvlStrRef>
          </c:cat>
          <c:val>
            <c:numRef>
              <c:f>Sheet1!$D$2:$D$3</c:f>
              <c:numCache>
                <c:formatCode>General</c:formatCode>
                <c:ptCount val="2"/>
                <c:pt idx="0">
                  <c:v>4</c:v>
                </c:pt>
                <c:pt idx="1">
                  <c:v>3</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A2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9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E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F2A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D3A"/>
                </a:solidFill>
                <a:latin typeface="+mn-lt"/>
              </a:defRPr>
            </a:pPr>
            <a:r>
              <a:rPr sz="1400" b="0" i="0" u="none" strike="noStrike">
                <a:solidFill>
                  <a:srgbClr val="0B3D3A"/>
                </a:solidFill>
                <a:latin typeface="+mn-lt"/>
              </a:rPr>
              <a:t>Annual cost saved (illustrative)</a:t>
            </a:r>
          </a:p>
        </c:rich>
      </c:tx>
      <c:layout/>
      <c:overlay val="0"/>
    </c:title>
    <c:autoTitleDeleted val="0"/>
    <c:plotArea>
      <c:layout/>
      <c:barChart>
        <c:barDir val="col"/>
        <c:grouping val="clustered"/>
        <c:varyColors val="0"/>
        <c:ser>
          <c:idx val="0"/>
          <c:order val="0"/>
          <c:tx>
            <c:strRef>
              <c:f>Sheet1!$B$1</c:f>
              <c:strCache>
                <c:ptCount val="1"/>
                <c:pt idx="0">
                  <c:v>Cost saved</c:v>
                </c:pt>
              </c:strCache>
            </c:strRef>
          </c:tx>
          <c:spPr>
            <a:solidFill>
              <a:srgbClr val="0B3D3A"/>
            </a:solidFill>
            <a:effectLst/>
          </c:spPr>
          <c:invertIfNegative val="0"/>
          <c:dLbls>
            <c:numFmt formatCode="&quot;USD &quot;#,##0,&quot;k&quot;"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cat>
            <c:multiLvlStrRef>
              <c:f>Sheet1!$A$2:$A$4</c:f>
              <c:multiLvlStrCache>
                <c:ptCount val="3"/>
                <c:lvl>
                  <c:pt idx="0">
                    <c:v>25 engagements</c:v>
                  </c:pt>
                  <c:pt idx="1">
                    <c:v>50 engagements</c:v>
                  </c:pt>
                  <c:pt idx="2">
                    <c:v>100 engagements</c:v>
                  </c:pt>
                </c:lvl>
              </c:multiLvlStrCache>
            </c:multiLvlStrRef>
          </c:cat>
          <c:val>
            <c:numRef>
              <c:f>Sheet1!$B$2:$B$4</c:f>
              <c:numCache>
                <c:formatCode>General</c:formatCode>
                <c:ptCount val="3"/>
                <c:pt idx="0">
                  <c:v>73125</c:v>
                </c:pt>
                <c:pt idx="1">
                  <c:v>146250</c:v>
                </c:pt>
                <c:pt idx="2">
                  <c:v>292500</c:v>
                </c:pt>
              </c:numCache>
            </c:numRef>
          </c:val>
        </c:ser>
        <c:dLbls>
          <c:numFmt formatCode="&quot;USD &quot;#,##0,&quot;k&quot;"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2E"/>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200" b="1" dirty="0">
                <a:solidFill>
                  <a:srgbClr val="0B3D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rgbClr val="5E6E73"/>
                </a:solidFill>
                <a:latin typeface="Calibri" pitchFamily="34" charset="0"/>
                <a:ea typeface="Calibri" pitchFamily="34" charset="-122"/>
                <a:cs typeface="Calibri" pitchFamily="34" charset="-120"/>
              </a:rPr>
              <a:t>Business Review Automation Agent  |  Prepared for discussion with audit firm leadership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3D3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circle"/>
          <p:cNvSpPr/>
          <p:nvPr/>
        </p:nvSpPr>
        <p:spPr>
          <a:xfrm>
            <a:off x="731520" y="731520"/>
            <a:ext cx="822960" cy="822960"/>
          </a:xfrm>
          <a:prstGeom prst="ellipse">
            <a:avLst/>
          </a:prstGeom>
          <a:solidFill>
            <a:srgbClr val="C9A227"/>
          </a:solidFill>
          <a:ln w="12700">
            <a:solidFill>
              <a:srgbClr val="C9A227"/>
            </a:solidFill>
            <a:prstDash val="solid"/>
          </a:ln>
        </p:spPr>
      </p:sp>
      <p:pic>
        <p:nvPicPr>
          <p:cNvPr id="3" name="title icon" descr="preencoded.png">    </p:cNvPr>
          <p:cNvPicPr>
            <a:picLocks noChangeAspect="1"/>
          </p:cNvPicPr>
          <p:nvPr/>
        </p:nvPicPr>
        <p:blipFill>
          <a:blip r:embed="rId1"/>
          <a:stretch>
            <a:fillRect/>
          </a:stretch>
        </p:blipFill>
        <p:spPr>
          <a:xfrm>
            <a:off x="937260" y="937260"/>
            <a:ext cx="411480" cy="411480"/>
          </a:xfrm>
          <a:prstGeom prst="rect">
            <a:avLst/>
          </a:prstGeom>
        </p:spPr>
      </p:pic>
      <p:sp>
        <p:nvSpPr>
          <p:cNvPr id="4" name="Text 1"/>
          <p:cNvSpPr txBox="1"/>
          <p:nvPr/>
        </p:nvSpPr>
        <p:spPr>
          <a:xfrm>
            <a:off x="731520" y="1920240"/>
            <a:ext cx="10515600" cy="9144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Business Review Automation Agent</a:t>
            </a:r>
            <a:endParaRPr lang="en-US" sz="4400" dirty="0"/>
          </a:p>
        </p:txBody>
      </p:sp>
      <p:sp>
        <p:nvSpPr>
          <p:cNvPr id="5" name="Text 2"/>
          <p:cNvSpPr txBox="1"/>
          <p:nvPr/>
        </p:nvSpPr>
        <p:spPr>
          <a:xfrm>
            <a:off x="731520" y="2926080"/>
            <a:ext cx="10058400" cy="822960"/>
          </a:xfrm>
          <a:prstGeom prst="rect">
            <a:avLst/>
          </a:prstGeom>
          <a:noFill/>
          <a:ln/>
        </p:spPr>
        <p:txBody>
          <a:bodyPr wrap="square" lIns="0" tIns="0" rIns="0" bIns="0" rtlCol="0" anchor="t"/>
          <a:lstStyle/>
          <a:p>
            <a:pPr indent="0" marL="0">
              <a:buNone/>
            </a:pPr>
            <a:r>
              <a:rPr lang="en-US" sz="2200" dirty="0">
                <a:solidFill>
                  <a:srgbClr val="8FB8B0"/>
                </a:solidFill>
                <a:latin typeface="Calibri" pitchFamily="34" charset="0"/>
                <a:ea typeface="Calibri" pitchFamily="34" charset="-122"/>
                <a:cs typeface="Calibri" pitchFamily="34" charset="-120"/>
              </a:rPr>
              <a:t>From one client file to an audit-ready analytics package: validated, explained and fully traceable</a:t>
            </a:r>
            <a:endParaRPr lang="en-US" sz="2200" dirty="0"/>
          </a:p>
        </p:txBody>
      </p:sp>
      <p:sp>
        <p:nvSpPr>
          <p:cNvPr id="6" name="Text 3"/>
          <p:cNvSpPr txBox="1"/>
          <p:nvPr/>
        </p:nvSpPr>
        <p:spPr>
          <a:xfrm>
            <a:off x="731520" y="5120640"/>
            <a:ext cx="7315200" cy="3657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 proposal for CPA and audit firms</a:t>
            </a:r>
            <a:endParaRPr lang="en-US" sz="1600" dirty="0"/>
          </a:p>
        </p:txBody>
      </p:sp>
      <p:sp>
        <p:nvSpPr>
          <p:cNvPr id="7" name="Text 4"/>
          <p:cNvSpPr txBox="1"/>
          <p:nvPr/>
        </p:nvSpPr>
        <p:spPr>
          <a:xfrm>
            <a:off x="731520" y="5532120"/>
            <a:ext cx="9144000" cy="365760"/>
          </a:xfrm>
          <a:prstGeom prst="rect">
            <a:avLst/>
          </a:prstGeom>
          <a:noFill/>
          <a:ln/>
        </p:spPr>
        <p:txBody>
          <a:bodyPr wrap="square" lIns="0" tIns="0" rIns="0" bIns="0" rtlCol="0" anchor="t"/>
          <a:lstStyle/>
          <a:p>
            <a:pPr indent="0" marL="0">
              <a:buNone/>
            </a:pPr>
            <a:r>
              <a:rPr lang="en-US" sz="1400" i="1" dirty="0">
                <a:solidFill>
                  <a:srgbClr val="8FB8B0"/>
                </a:solidFill>
                <a:latin typeface="Calibri" pitchFamily="34" charset="0"/>
                <a:ea typeface="Calibri" pitchFamily="34" charset="-122"/>
                <a:cs typeface="Calibri" pitchFamily="34" charset="-120"/>
              </a:rPr>
              <a:t>Analytical review  |  Going-concern support  |  Client advisory packages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0B3D3A"/>
                </a:solidFill>
                <a:latin typeface="Cambria" pitchFamily="34" charset="0"/>
                <a:ea typeface="Cambria" pitchFamily="34" charset="-122"/>
                <a:cs typeface="Cambria" pitchFamily="34" charset="-120"/>
              </a:rPr>
              <a:t>Analytics work is still built by hand, client by client</a:t>
            </a:r>
            <a:endParaRPr lang="en-US" sz="3200" dirty="0"/>
          </a:p>
        </p:txBody>
      </p:sp>
      <p:sp>
        <p:nvSpPr>
          <p:cNvPr id="3" name="pain card 1"/>
          <p:cNvSpPr/>
          <p:nvPr/>
        </p:nvSpPr>
        <p:spPr>
          <a:xfrm>
            <a:off x="548640" y="1554480"/>
            <a:ext cx="3474720" cy="4206240"/>
          </a:xfrm>
          <a:prstGeom prst="roundRect">
            <a:avLst>
              <a:gd name="adj" fmla="val 3158"/>
            </a:avLst>
          </a:prstGeom>
          <a:solidFill>
            <a:srgbClr val="EEF4F2"/>
          </a:solidFill>
          <a:ln w="12700">
            <a:solidFill>
              <a:srgbClr val="EEF4F2"/>
            </a:solidFill>
            <a:prstDash val="solid"/>
          </a:ln>
        </p:spPr>
      </p:sp>
      <p:sp>
        <p:nvSpPr>
          <p:cNvPr id="4" name="pain 1 circle"/>
          <p:cNvSpPr/>
          <p:nvPr/>
        </p:nvSpPr>
        <p:spPr>
          <a:xfrm>
            <a:off x="868680" y="1828800"/>
            <a:ext cx="777240" cy="777240"/>
          </a:xfrm>
          <a:prstGeom prst="ellipse">
            <a:avLst/>
          </a:prstGeom>
          <a:solidFill>
            <a:srgbClr val="0B3D3A"/>
          </a:solidFill>
          <a:ln w="12700">
            <a:solidFill>
              <a:srgbClr val="0B3D3A"/>
            </a:solidFill>
            <a:prstDash val="solid"/>
          </a:ln>
        </p:spPr>
      </p:sp>
      <p:pic>
        <p:nvPicPr>
          <p:cNvPr id="5" name="pain 1 icon" descr="preencoded.png">    </p:cNvPr>
          <p:cNvPicPr>
            <a:picLocks noChangeAspect="1"/>
          </p:cNvPicPr>
          <p:nvPr/>
        </p:nvPicPr>
        <p:blipFill>
          <a:blip r:embed="rId1"/>
          <a:stretch>
            <a:fillRect/>
          </a:stretch>
        </p:blipFill>
        <p:spPr>
          <a:xfrm>
            <a:off x="1062990" y="2023110"/>
            <a:ext cx="388620" cy="388620"/>
          </a:xfrm>
          <a:prstGeom prst="rect">
            <a:avLst/>
          </a:prstGeom>
        </p:spPr>
      </p:pic>
      <p:sp>
        <p:nvSpPr>
          <p:cNvPr id="6" name="Text 3"/>
          <p:cNvSpPr txBox="1"/>
          <p:nvPr/>
        </p:nvSpPr>
        <p:spPr>
          <a:xfrm>
            <a:off x="868680" y="2834640"/>
            <a:ext cx="2926080" cy="731520"/>
          </a:xfrm>
          <a:prstGeom prst="rect">
            <a:avLst/>
          </a:prstGeom>
          <a:noFill/>
          <a:ln/>
        </p:spPr>
        <p:txBody>
          <a:bodyPr wrap="square" lIns="0" tIns="0" rIns="0" bIns="0" rtlCol="0" anchor="t"/>
          <a:lstStyle/>
          <a:p>
            <a:pPr indent="0" marL="0">
              <a:buNone/>
            </a:pPr>
            <a:r>
              <a:rPr lang="en-US" sz="2000" b="1" dirty="0">
                <a:solidFill>
                  <a:srgbClr val="0B3D3A"/>
                </a:solidFill>
                <a:latin typeface="Cambria" pitchFamily="34" charset="0"/>
                <a:ea typeface="Cambria" pitchFamily="34" charset="-122"/>
                <a:cs typeface="Cambria" pitchFamily="34" charset="-120"/>
              </a:rPr>
              <a:t>Hours of manual preparation</a:t>
            </a:r>
            <a:endParaRPr lang="en-US" sz="2000" dirty="0"/>
          </a:p>
        </p:txBody>
      </p:sp>
      <p:sp>
        <p:nvSpPr>
          <p:cNvPr id="7" name="Text 4"/>
          <p:cNvSpPr txBox="1"/>
          <p:nvPr/>
        </p:nvSpPr>
        <p:spPr>
          <a:xfrm>
            <a:off x="868680" y="3611880"/>
            <a:ext cx="2880360" cy="2011680"/>
          </a:xfrm>
          <a:prstGeom prst="rect">
            <a:avLst/>
          </a:prstGeom>
          <a:noFill/>
          <a:ln/>
        </p:spPr>
        <p:txBody>
          <a:bodyPr wrap="square" lIns="0" tIns="0" rIns="0" bIns="0" rtlCol="0" anchor="t"/>
          <a:lstStyle/>
          <a:p>
            <a:pPr indent="0" marL="0">
              <a:buNone/>
            </a:pPr>
            <a:r>
              <a:rPr lang="en-US" sz="1500" dirty="0">
                <a:solidFill>
                  <a:srgbClr val="1F2A2E"/>
                </a:solidFill>
                <a:latin typeface="Calibri" pitchFamily="34" charset="0"/>
                <a:ea typeface="Calibri" pitchFamily="34" charset="-122"/>
                <a:cs typeface="Calibri" pitchFamily="34" charset="-120"/>
              </a:rPr>
              <a:t>Staff rebuild the same tie-outs, variance tables and commentary for every client and every period: copy, paste, reconcile, reformat.</a:t>
            </a:r>
            <a:endParaRPr lang="en-US" sz="1500" dirty="0"/>
          </a:p>
        </p:txBody>
      </p:sp>
      <p:sp>
        <p:nvSpPr>
          <p:cNvPr id="8" name="pain card 2"/>
          <p:cNvSpPr/>
          <p:nvPr/>
        </p:nvSpPr>
        <p:spPr>
          <a:xfrm>
            <a:off x="4297680" y="1554480"/>
            <a:ext cx="3474720" cy="4206240"/>
          </a:xfrm>
          <a:prstGeom prst="roundRect">
            <a:avLst>
              <a:gd name="adj" fmla="val 3158"/>
            </a:avLst>
          </a:prstGeom>
          <a:solidFill>
            <a:srgbClr val="EEF4F2"/>
          </a:solidFill>
          <a:ln w="12700">
            <a:solidFill>
              <a:srgbClr val="EEF4F2"/>
            </a:solidFill>
            <a:prstDash val="solid"/>
          </a:ln>
        </p:spPr>
      </p:sp>
      <p:sp>
        <p:nvSpPr>
          <p:cNvPr id="9" name="pain 2 circle"/>
          <p:cNvSpPr/>
          <p:nvPr/>
        </p:nvSpPr>
        <p:spPr>
          <a:xfrm>
            <a:off x="4617720" y="1828800"/>
            <a:ext cx="777240" cy="777240"/>
          </a:xfrm>
          <a:prstGeom prst="ellipse">
            <a:avLst/>
          </a:prstGeom>
          <a:solidFill>
            <a:srgbClr val="0B3D3A"/>
          </a:solidFill>
          <a:ln w="12700">
            <a:solidFill>
              <a:srgbClr val="0B3D3A"/>
            </a:solidFill>
            <a:prstDash val="solid"/>
          </a:ln>
        </p:spPr>
      </p:sp>
      <p:pic>
        <p:nvPicPr>
          <p:cNvPr id="10" name="pain 2 icon" descr="preencoded.png">    </p:cNvPr>
          <p:cNvPicPr>
            <a:picLocks noChangeAspect="1"/>
          </p:cNvPicPr>
          <p:nvPr/>
        </p:nvPicPr>
        <p:blipFill>
          <a:blip r:embed="rId2"/>
          <a:stretch>
            <a:fillRect/>
          </a:stretch>
        </p:blipFill>
        <p:spPr>
          <a:xfrm>
            <a:off x="4812030" y="2023110"/>
            <a:ext cx="388620" cy="388620"/>
          </a:xfrm>
          <a:prstGeom prst="rect">
            <a:avLst/>
          </a:prstGeom>
        </p:spPr>
      </p:pic>
      <p:sp>
        <p:nvSpPr>
          <p:cNvPr id="11" name="Text 7"/>
          <p:cNvSpPr txBox="1"/>
          <p:nvPr/>
        </p:nvSpPr>
        <p:spPr>
          <a:xfrm>
            <a:off x="4617720" y="2834640"/>
            <a:ext cx="2926080" cy="731520"/>
          </a:xfrm>
          <a:prstGeom prst="rect">
            <a:avLst/>
          </a:prstGeom>
          <a:noFill/>
          <a:ln/>
        </p:spPr>
        <p:txBody>
          <a:bodyPr wrap="square" lIns="0" tIns="0" rIns="0" bIns="0" rtlCol="0" anchor="t"/>
          <a:lstStyle/>
          <a:p>
            <a:pPr indent="0" marL="0">
              <a:buNone/>
            </a:pPr>
            <a:r>
              <a:rPr lang="en-US" sz="2000" b="1" dirty="0">
                <a:solidFill>
                  <a:srgbClr val="0B3D3A"/>
                </a:solidFill>
                <a:latin typeface="Cambria" pitchFamily="34" charset="0"/>
                <a:ea typeface="Cambria" pitchFamily="34" charset="-122"/>
                <a:cs typeface="Cambria" pitchFamily="34" charset="-120"/>
              </a:rPr>
              <a:t>Client data arrives messy</a:t>
            </a:r>
            <a:endParaRPr lang="en-US" sz="2000" dirty="0"/>
          </a:p>
        </p:txBody>
      </p:sp>
      <p:sp>
        <p:nvSpPr>
          <p:cNvPr id="12" name="Text 8"/>
          <p:cNvSpPr txBox="1"/>
          <p:nvPr/>
        </p:nvSpPr>
        <p:spPr>
          <a:xfrm>
            <a:off x="4617720" y="3611880"/>
            <a:ext cx="2880360" cy="2011680"/>
          </a:xfrm>
          <a:prstGeom prst="rect">
            <a:avLst/>
          </a:prstGeom>
          <a:noFill/>
          <a:ln/>
        </p:spPr>
        <p:txBody>
          <a:bodyPr wrap="square" lIns="0" tIns="0" rIns="0" bIns="0" rtlCol="0" anchor="t"/>
          <a:lstStyle/>
          <a:p>
            <a:pPr indent="0" marL="0">
              <a:buNone/>
            </a:pPr>
            <a:r>
              <a:rPr lang="en-US" sz="1500" dirty="0">
                <a:solidFill>
                  <a:srgbClr val="1F2A2E"/>
                </a:solidFill>
                <a:latin typeface="Calibri" pitchFamily="34" charset="0"/>
                <a:ea typeface="Calibri" pitchFamily="34" charset="-122"/>
                <a:cs typeface="Calibri" pitchFamily="34" charset="-120"/>
              </a:rPr>
              <a:t>Year-to-date exports, subtotal rows, foreign-language ledgers, thousands vs units, hidden tabs, mixed date formats, several currencies and standards.</a:t>
            </a:r>
            <a:endParaRPr lang="en-US" sz="1500" dirty="0"/>
          </a:p>
        </p:txBody>
      </p:sp>
      <p:sp>
        <p:nvSpPr>
          <p:cNvPr id="13" name="pain card 3"/>
          <p:cNvSpPr/>
          <p:nvPr/>
        </p:nvSpPr>
        <p:spPr>
          <a:xfrm>
            <a:off x="8046720" y="1554480"/>
            <a:ext cx="3474720" cy="4206240"/>
          </a:xfrm>
          <a:prstGeom prst="roundRect">
            <a:avLst>
              <a:gd name="adj" fmla="val 3158"/>
            </a:avLst>
          </a:prstGeom>
          <a:solidFill>
            <a:srgbClr val="EEF4F2"/>
          </a:solidFill>
          <a:ln w="12700">
            <a:solidFill>
              <a:srgbClr val="EEF4F2"/>
            </a:solidFill>
            <a:prstDash val="solid"/>
          </a:ln>
        </p:spPr>
      </p:sp>
      <p:sp>
        <p:nvSpPr>
          <p:cNvPr id="14" name="pain 3 circle"/>
          <p:cNvSpPr/>
          <p:nvPr/>
        </p:nvSpPr>
        <p:spPr>
          <a:xfrm>
            <a:off x="8366760" y="1828800"/>
            <a:ext cx="777240" cy="777240"/>
          </a:xfrm>
          <a:prstGeom prst="ellipse">
            <a:avLst/>
          </a:prstGeom>
          <a:solidFill>
            <a:srgbClr val="0B3D3A"/>
          </a:solidFill>
          <a:ln w="12700">
            <a:solidFill>
              <a:srgbClr val="0B3D3A"/>
            </a:solidFill>
            <a:prstDash val="solid"/>
          </a:ln>
        </p:spPr>
      </p:sp>
      <p:pic>
        <p:nvPicPr>
          <p:cNvPr id="15" name="pain 3 icon" descr="preencoded.png">    </p:cNvPr>
          <p:cNvPicPr>
            <a:picLocks noChangeAspect="1"/>
          </p:cNvPicPr>
          <p:nvPr/>
        </p:nvPicPr>
        <p:blipFill>
          <a:blip r:embed="rId3"/>
          <a:stretch>
            <a:fillRect/>
          </a:stretch>
        </p:blipFill>
        <p:spPr>
          <a:xfrm>
            <a:off x="8561070" y="2023110"/>
            <a:ext cx="388620" cy="388620"/>
          </a:xfrm>
          <a:prstGeom prst="rect">
            <a:avLst/>
          </a:prstGeom>
        </p:spPr>
      </p:pic>
      <p:sp>
        <p:nvSpPr>
          <p:cNvPr id="16" name="Text 11"/>
          <p:cNvSpPr txBox="1"/>
          <p:nvPr/>
        </p:nvSpPr>
        <p:spPr>
          <a:xfrm>
            <a:off x="8366760" y="2834640"/>
            <a:ext cx="2926080" cy="731520"/>
          </a:xfrm>
          <a:prstGeom prst="rect">
            <a:avLst/>
          </a:prstGeom>
          <a:noFill/>
          <a:ln/>
        </p:spPr>
        <p:txBody>
          <a:bodyPr wrap="square" lIns="0" tIns="0" rIns="0" bIns="0" rtlCol="0" anchor="t"/>
          <a:lstStyle/>
          <a:p>
            <a:pPr indent="0" marL="0">
              <a:buNone/>
            </a:pPr>
            <a:r>
              <a:rPr lang="en-US" sz="2000" b="1" dirty="0">
                <a:solidFill>
                  <a:srgbClr val="0B3D3A"/>
                </a:solidFill>
                <a:latin typeface="Cambria" pitchFamily="34" charset="0"/>
                <a:ea typeface="Cambria" pitchFamily="34" charset="-122"/>
                <a:cs typeface="Cambria" pitchFamily="34" charset="-120"/>
              </a:rPr>
              <a:t>Signals get missed under deadline</a:t>
            </a:r>
            <a:endParaRPr lang="en-US" sz="2000" dirty="0"/>
          </a:p>
        </p:txBody>
      </p:sp>
      <p:sp>
        <p:nvSpPr>
          <p:cNvPr id="17" name="Text 12"/>
          <p:cNvSpPr txBox="1"/>
          <p:nvPr/>
        </p:nvSpPr>
        <p:spPr>
          <a:xfrm>
            <a:off x="8366760" y="3611880"/>
            <a:ext cx="2880360" cy="2011680"/>
          </a:xfrm>
          <a:prstGeom prst="rect">
            <a:avLst/>
          </a:prstGeom>
          <a:noFill/>
          <a:ln/>
        </p:spPr>
        <p:txBody>
          <a:bodyPr wrap="square" lIns="0" tIns="0" rIns="0" bIns="0" rtlCol="0" anchor="t"/>
          <a:lstStyle/>
          <a:p>
            <a:pPr indent="0" marL="0">
              <a:buNone/>
            </a:pPr>
            <a:r>
              <a:rPr lang="en-US" sz="1500" dirty="0">
                <a:solidFill>
                  <a:srgbClr val="1F2A2E"/>
                </a:solidFill>
                <a:latin typeface="Calibri" pitchFamily="34" charset="0"/>
                <a:ea typeface="Calibri" pitchFamily="34" charset="-122"/>
                <a:cs typeface="Calibri" pitchFamily="34" charset="-120"/>
              </a:rPr>
              <a:t>Covenant headroom, related parties, revenue cutoff, capitalization shifts and provision releases hide in the detail when time is short.</a:t>
            </a:r>
            <a:endParaRPr lang="en-US" sz="1500" dirty="0"/>
          </a:p>
        </p:txBody>
      </p:sp>
      <p:sp>
        <p:nvSpPr>
          <p:cNvPr id="18" name="Text 13"/>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500" i="1" dirty="0">
                <a:solidFill>
                  <a:srgbClr val="3E7C74"/>
                </a:solidFill>
                <a:latin typeface="Calibri" pitchFamily="34" charset="0"/>
                <a:ea typeface="Calibri" pitchFamily="34" charset="-122"/>
                <a:cs typeface="Calibri" pitchFamily="34" charset="-120"/>
              </a:rPr>
              <a:t>The result: senior time spent on mechanics instead of judgment, uneven quality across teams, and risk that sits in the file unnoticed.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0B3D3A"/>
                </a:solidFill>
                <a:latin typeface="Cambria" pitchFamily="34" charset="0"/>
                <a:ea typeface="Cambria" pitchFamily="34" charset="-122"/>
                <a:cs typeface="Cambria" pitchFamily="34" charset="-120"/>
              </a:rPr>
              <a:t>One file in, four linked deliverables out</a:t>
            </a:r>
            <a:endParaRPr lang="en-US" sz="3200" dirty="0"/>
          </a:p>
        </p:txBody>
      </p:sp>
      <p:sp>
        <p:nvSpPr>
          <p:cNvPr id="3" name="input card"/>
          <p:cNvSpPr/>
          <p:nvPr/>
        </p:nvSpPr>
        <p:spPr>
          <a:xfrm>
            <a:off x="548640" y="2011680"/>
            <a:ext cx="2377440" cy="2926080"/>
          </a:xfrm>
          <a:prstGeom prst="roundRect">
            <a:avLst>
              <a:gd name="adj" fmla="val 4615"/>
            </a:avLst>
          </a:prstGeom>
          <a:solidFill>
            <a:srgbClr val="EEF4F2"/>
          </a:solidFill>
          <a:ln w="12700">
            <a:solidFill>
              <a:srgbClr val="EEF4F2"/>
            </a:solidFill>
            <a:prstDash val="solid"/>
          </a:ln>
        </p:spPr>
      </p:sp>
      <p:sp>
        <p:nvSpPr>
          <p:cNvPr id="4" name="input circle"/>
          <p:cNvSpPr/>
          <p:nvPr/>
        </p:nvSpPr>
        <p:spPr>
          <a:xfrm>
            <a:off x="1280160" y="2286000"/>
            <a:ext cx="914400" cy="914400"/>
          </a:xfrm>
          <a:prstGeom prst="ellipse">
            <a:avLst/>
          </a:prstGeom>
          <a:solidFill>
            <a:srgbClr val="3E7C74"/>
          </a:solidFill>
          <a:ln w="12700">
            <a:solidFill>
              <a:srgbClr val="3E7C74"/>
            </a:solidFill>
            <a:prstDash val="solid"/>
          </a:ln>
        </p:spPr>
      </p:sp>
      <p:pic>
        <p:nvPicPr>
          <p:cNvPr id="5" name="input icon" descr="preencoded.png">    </p:cNvPr>
          <p:cNvPicPr>
            <a:picLocks noChangeAspect="1"/>
          </p:cNvPicPr>
          <p:nvPr/>
        </p:nvPicPr>
        <p:blipFill>
          <a:blip r:embed="rId1"/>
          <a:stretch>
            <a:fillRect/>
          </a:stretch>
        </p:blipFill>
        <p:spPr>
          <a:xfrm>
            <a:off x="1508760" y="2514600"/>
            <a:ext cx="457200" cy="457200"/>
          </a:xfrm>
          <a:prstGeom prst="rect">
            <a:avLst/>
          </a:prstGeom>
        </p:spPr>
      </p:pic>
      <p:sp>
        <p:nvSpPr>
          <p:cNvPr id="6" name="Text 3"/>
          <p:cNvSpPr txBox="1"/>
          <p:nvPr/>
        </p:nvSpPr>
        <p:spPr>
          <a:xfrm>
            <a:off x="731520" y="3383280"/>
            <a:ext cx="2011680" cy="365760"/>
          </a:xfrm>
          <a:prstGeom prst="rect">
            <a:avLst/>
          </a:prstGeom>
          <a:noFill/>
          <a:ln/>
        </p:spPr>
        <p:txBody>
          <a:bodyPr wrap="square" lIns="0" tIns="0" rIns="0" bIns="0" rtlCol="0" anchor="t"/>
          <a:lstStyle/>
          <a:p>
            <a:pPr algn="ctr" indent="0" marL="0">
              <a:buNone/>
            </a:pPr>
            <a:r>
              <a:rPr lang="en-US" sz="1700" b="1" dirty="0">
                <a:solidFill>
                  <a:srgbClr val="0B3D3A"/>
                </a:solidFill>
                <a:latin typeface="Calibri" pitchFamily="34" charset="0"/>
                <a:ea typeface="Calibri" pitchFamily="34" charset="-122"/>
                <a:cs typeface="Calibri" pitchFamily="34" charset="-120"/>
              </a:rPr>
              <a:t>One client file</a:t>
            </a:r>
            <a:endParaRPr lang="en-US" sz="1700" dirty="0"/>
          </a:p>
        </p:txBody>
      </p:sp>
      <p:sp>
        <p:nvSpPr>
          <p:cNvPr id="7" name="Text 4"/>
          <p:cNvSpPr txBox="1"/>
          <p:nvPr/>
        </p:nvSpPr>
        <p:spPr>
          <a:xfrm>
            <a:off x="731520" y="3749040"/>
            <a:ext cx="2011680" cy="1097280"/>
          </a:xfrm>
          <a:prstGeom prst="rect">
            <a:avLst/>
          </a:prstGeom>
          <a:noFill/>
          <a:ln/>
        </p:spPr>
        <p:txBody>
          <a:bodyPr wrap="square" lIns="0" tIns="0" rIns="0" bIns="0" rtlCol="0" anchor="t"/>
          <a:lstStyle/>
          <a:p>
            <a:pPr algn="ctr" indent="0" marL="0">
              <a:buNone/>
            </a:pPr>
            <a:r>
              <a:rPr lang="en-US" sz="1200" dirty="0">
                <a:solidFill>
                  <a:srgbClr val="5E6E73"/>
                </a:solidFill>
                <a:latin typeface="Calibri" pitchFamily="34" charset="0"/>
                <a:ea typeface="Calibri" pitchFamily="34" charset="-122"/>
                <a:cs typeface="Calibri" pitchFamily="34" charset="-120"/>
              </a:rPr>
              <a:t>Multi-tab Excel (GL, cash, headcount, revenue, budget, FX, intercompany). PDF, Word or PowerPoint also accepted.</a:t>
            </a:r>
            <a:endParaRPr lang="en-US" sz="1200" dirty="0"/>
          </a:p>
        </p:txBody>
      </p:sp>
      <p:sp>
        <p:nvSpPr>
          <p:cNvPr id="8" name="arrow 1"/>
          <p:cNvSpPr/>
          <p:nvPr/>
        </p:nvSpPr>
        <p:spPr>
          <a:xfrm>
            <a:off x="3063240" y="3200400"/>
            <a:ext cx="640080" cy="457200"/>
          </a:xfrm>
          <a:prstGeom prst="rightArrow">
            <a:avLst/>
          </a:prstGeom>
          <a:solidFill>
            <a:srgbClr val="C9A227"/>
          </a:solidFill>
          <a:ln w="12700">
            <a:solidFill>
              <a:srgbClr val="C9A227"/>
            </a:solidFill>
            <a:prstDash val="solid"/>
          </a:ln>
        </p:spPr>
      </p:sp>
      <p:sp>
        <p:nvSpPr>
          <p:cNvPr id="9" name="agent card"/>
          <p:cNvSpPr/>
          <p:nvPr/>
        </p:nvSpPr>
        <p:spPr>
          <a:xfrm>
            <a:off x="3840480" y="2011680"/>
            <a:ext cx="2377440" cy="2926080"/>
          </a:xfrm>
          <a:prstGeom prst="roundRect">
            <a:avLst>
              <a:gd name="adj" fmla="val 4615"/>
            </a:avLst>
          </a:prstGeom>
          <a:solidFill>
            <a:srgbClr val="0B3D3A"/>
          </a:solidFill>
          <a:ln w="12700">
            <a:solidFill>
              <a:srgbClr val="0B3D3A"/>
            </a:solidFill>
            <a:prstDash val="solid"/>
          </a:ln>
        </p:spPr>
      </p:sp>
      <p:sp>
        <p:nvSpPr>
          <p:cNvPr id="10" name="agent circle"/>
          <p:cNvSpPr/>
          <p:nvPr/>
        </p:nvSpPr>
        <p:spPr>
          <a:xfrm>
            <a:off x="4572000" y="2286000"/>
            <a:ext cx="914400" cy="914400"/>
          </a:xfrm>
          <a:prstGeom prst="ellipse">
            <a:avLst/>
          </a:prstGeom>
          <a:solidFill>
            <a:srgbClr val="C9A227"/>
          </a:solidFill>
          <a:ln w="12700">
            <a:solidFill>
              <a:srgbClr val="C9A227"/>
            </a:solidFill>
            <a:prstDash val="solid"/>
          </a:ln>
        </p:spPr>
      </p:sp>
      <p:pic>
        <p:nvPicPr>
          <p:cNvPr id="11" name="agent icon" descr="preencoded.png">    </p:cNvPr>
          <p:cNvPicPr>
            <a:picLocks noChangeAspect="1"/>
          </p:cNvPicPr>
          <p:nvPr/>
        </p:nvPicPr>
        <p:blipFill>
          <a:blip r:embed="rId2"/>
          <a:stretch>
            <a:fillRect/>
          </a:stretch>
        </p:blipFill>
        <p:spPr>
          <a:xfrm>
            <a:off x="4800600" y="2514600"/>
            <a:ext cx="457200" cy="457200"/>
          </a:xfrm>
          <a:prstGeom prst="rect">
            <a:avLst/>
          </a:prstGeom>
        </p:spPr>
      </p:pic>
      <p:sp>
        <p:nvSpPr>
          <p:cNvPr id="12" name="Text 8"/>
          <p:cNvSpPr txBox="1"/>
          <p:nvPr/>
        </p:nvSpPr>
        <p:spPr>
          <a:xfrm>
            <a:off x="4023360" y="3383280"/>
            <a:ext cx="201168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The agent</a:t>
            </a:r>
            <a:endParaRPr lang="en-US" sz="1700" dirty="0"/>
          </a:p>
        </p:txBody>
      </p:sp>
      <p:sp>
        <p:nvSpPr>
          <p:cNvPr id="13" name="Text 9"/>
          <p:cNvSpPr txBox="1"/>
          <p:nvPr/>
        </p:nvSpPr>
        <p:spPr>
          <a:xfrm>
            <a:off x="4023360" y="3749040"/>
            <a:ext cx="2011680" cy="1097280"/>
          </a:xfrm>
          <a:prstGeom prst="rect">
            <a:avLst/>
          </a:prstGeom>
          <a:noFill/>
          <a:ln/>
        </p:spPr>
        <p:txBody>
          <a:bodyPr wrap="square" lIns="0" tIns="0" rIns="0" bIns="0" rtlCol="0" anchor="t"/>
          <a:lstStyle/>
          <a:p>
            <a:pPr algn="ctr" indent="0" marL="0">
              <a:buNone/>
            </a:pPr>
            <a:r>
              <a:rPr lang="en-US" sz="1200" dirty="0">
                <a:solidFill>
                  <a:srgbClr val="8FB8B0"/>
                </a:solidFill>
                <a:latin typeface="Calibri" pitchFamily="34" charset="0"/>
                <a:ea typeface="Calibri" pitchFamily="34" charset="-122"/>
                <a:cs typeface="Calibri" pitchFamily="34" charset="-120"/>
              </a:rPr>
              <a:t>Validates, normalizes, consolidates, analyses and drafts, then pauses for your review</a:t>
            </a:r>
            <a:endParaRPr lang="en-US" sz="1200" dirty="0"/>
          </a:p>
        </p:txBody>
      </p:sp>
      <p:sp>
        <p:nvSpPr>
          <p:cNvPr id="14" name="arrow 2"/>
          <p:cNvSpPr/>
          <p:nvPr/>
        </p:nvSpPr>
        <p:spPr>
          <a:xfrm>
            <a:off x="6355080" y="3200400"/>
            <a:ext cx="640080" cy="457200"/>
          </a:xfrm>
          <a:prstGeom prst="rightArrow">
            <a:avLst/>
          </a:prstGeom>
          <a:solidFill>
            <a:srgbClr val="C9A227"/>
          </a:solidFill>
          <a:ln w="12700">
            <a:solidFill>
              <a:srgbClr val="C9A227"/>
            </a:solidFill>
            <a:prstDash val="solid"/>
          </a:ln>
        </p:spPr>
      </p:sp>
      <p:sp>
        <p:nvSpPr>
          <p:cNvPr id="15" name="output card 1"/>
          <p:cNvSpPr/>
          <p:nvPr/>
        </p:nvSpPr>
        <p:spPr>
          <a:xfrm>
            <a:off x="7132320" y="1417320"/>
            <a:ext cx="4480560" cy="1051560"/>
          </a:xfrm>
          <a:prstGeom prst="roundRect">
            <a:avLst>
              <a:gd name="adj" fmla="val 10435"/>
            </a:avLst>
          </a:prstGeom>
          <a:solidFill>
            <a:srgbClr val="EEF4F2"/>
          </a:solidFill>
          <a:ln w="12700">
            <a:solidFill>
              <a:srgbClr val="EEF4F2"/>
            </a:solidFill>
            <a:prstDash val="solid"/>
          </a:ln>
        </p:spPr>
      </p:sp>
      <p:sp>
        <p:nvSpPr>
          <p:cNvPr id="16" name="output 1 circle"/>
          <p:cNvSpPr/>
          <p:nvPr/>
        </p:nvSpPr>
        <p:spPr>
          <a:xfrm>
            <a:off x="7269480" y="1600200"/>
            <a:ext cx="685800" cy="685800"/>
          </a:xfrm>
          <a:prstGeom prst="ellipse">
            <a:avLst/>
          </a:prstGeom>
          <a:solidFill>
            <a:srgbClr val="0B3D3A"/>
          </a:solidFill>
          <a:ln w="12700">
            <a:solidFill>
              <a:srgbClr val="0B3D3A"/>
            </a:solidFill>
            <a:prstDash val="solid"/>
          </a:ln>
        </p:spPr>
      </p:sp>
      <p:pic>
        <p:nvPicPr>
          <p:cNvPr id="17" name="output 1 icon" descr="preencoded.png">    </p:cNvPr>
          <p:cNvPicPr>
            <a:picLocks noChangeAspect="1"/>
          </p:cNvPicPr>
          <p:nvPr/>
        </p:nvPicPr>
        <p:blipFill>
          <a:blip r:embed="rId3"/>
          <a:stretch>
            <a:fillRect/>
          </a:stretch>
        </p:blipFill>
        <p:spPr>
          <a:xfrm>
            <a:off x="7440930" y="1771650"/>
            <a:ext cx="342900" cy="342900"/>
          </a:xfrm>
          <a:prstGeom prst="rect">
            <a:avLst/>
          </a:prstGeom>
        </p:spPr>
      </p:pic>
      <p:sp>
        <p:nvSpPr>
          <p:cNvPr id="18" name="Text 13"/>
          <p:cNvSpPr txBox="1"/>
          <p:nvPr/>
        </p:nvSpPr>
        <p:spPr>
          <a:xfrm>
            <a:off x="8138160" y="1527048"/>
            <a:ext cx="3383280" cy="320040"/>
          </a:xfrm>
          <a:prstGeom prst="rect">
            <a:avLst/>
          </a:prstGeom>
          <a:noFill/>
          <a:ln/>
        </p:spPr>
        <p:txBody>
          <a:bodyPr wrap="square" lIns="0" tIns="0" rIns="0" bIns="0" rtlCol="0" anchor="t"/>
          <a:lstStyle/>
          <a:p>
            <a:pPr indent="0" marL="0">
              <a:buNone/>
            </a:pPr>
            <a:r>
              <a:rPr lang="en-US" sz="1600" b="1" dirty="0">
                <a:solidFill>
                  <a:srgbClr val="0B3D3A"/>
                </a:solidFill>
                <a:latin typeface="Calibri" pitchFamily="34" charset="0"/>
                <a:ea typeface="Calibri" pitchFamily="34" charset="-122"/>
                <a:cs typeface="Calibri" pitchFamily="34" charset="-120"/>
              </a:rPr>
              <a:t>Data Validation Report</a:t>
            </a:r>
            <a:endParaRPr lang="en-US" sz="1600" dirty="0"/>
          </a:p>
        </p:txBody>
      </p:sp>
      <p:sp>
        <p:nvSpPr>
          <p:cNvPr id="19" name="Text 14"/>
          <p:cNvSpPr txBox="1"/>
          <p:nvPr/>
        </p:nvSpPr>
        <p:spPr>
          <a:xfrm>
            <a:off x="8138160" y="1847088"/>
            <a:ext cx="3383280" cy="548640"/>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What arrived, what is missing, every data check: reviewed before anything is built</a:t>
            </a:r>
            <a:endParaRPr lang="en-US" sz="1200" dirty="0"/>
          </a:p>
        </p:txBody>
      </p:sp>
      <p:sp>
        <p:nvSpPr>
          <p:cNvPr id="20" name="output card 2"/>
          <p:cNvSpPr/>
          <p:nvPr/>
        </p:nvSpPr>
        <p:spPr>
          <a:xfrm>
            <a:off x="7132320" y="2606040"/>
            <a:ext cx="4480560" cy="1051560"/>
          </a:xfrm>
          <a:prstGeom prst="roundRect">
            <a:avLst>
              <a:gd name="adj" fmla="val 10435"/>
            </a:avLst>
          </a:prstGeom>
          <a:solidFill>
            <a:srgbClr val="EEF4F2"/>
          </a:solidFill>
          <a:ln w="12700">
            <a:solidFill>
              <a:srgbClr val="EEF4F2"/>
            </a:solidFill>
            <a:prstDash val="solid"/>
          </a:ln>
        </p:spPr>
      </p:sp>
      <p:sp>
        <p:nvSpPr>
          <p:cNvPr id="21" name="output 2 circle"/>
          <p:cNvSpPr/>
          <p:nvPr/>
        </p:nvSpPr>
        <p:spPr>
          <a:xfrm>
            <a:off x="7269480" y="2788920"/>
            <a:ext cx="685800" cy="685800"/>
          </a:xfrm>
          <a:prstGeom prst="ellipse">
            <a:avLst/>
          </a:prstGeom>
          <a:solidFill>
            <a:srgbClr val="0B3D3A"/>
          </a:solidFill>
          <a:ln w="12700">
            <a:solidFill>
              <a:srgbClr val="0B3D3A"/>
            </a:solidFill>
            <a:prstDash val="solid"/>
          </a:ln>
        </p:spPr>
      </p:sp>
      <p:pic>
        <p:nvPicPr>
          <p:cNvPr id="22" name="output 2 icon" descr="preencoded.png">    </p:cNvPr>
          <p:cNvPicPr>
            <a:picLocks noChangeAspect="1"/>
          </p:cNvPicPr>
          <p:nvPr/>
        </p:nvPicPr>
        <p:blipFill>
          <a:blip r:embed="rId4"/>
          <a:stretch>
            <a:fillRect/>
          </a:stretch>
        </p:blipFill>
        <p:spPr>
          <a:xfrm>
            <a:off x="7440930" y="2960370"/>
            <a:ext cx="342900" cy="342900"/>
          </a:xfrm>
          <a:prstGeom prst="rect">
            <a:avLst/>
          </a:prstGeom>
        </p:spPr>
      </p:pic>
      <p:sp>
        <p:nvSpPr>
          <p:cNvPr id="23" name="Text 17"/>
          <p:cNvSpPr txBox="1"/>
          <p:nvPr/>
        </p:nvSpPr>
        <p:spPr>
          <a:xfrm>
            <a:off x="8138160" y="2715768"/>
            <a:ext cx="3383280" cy="320040"/>
          </a:xfrm>
          <a:prstGeom prst="rect">
            <a:avLst/>
          </a:prstGeom>
          <a:noFill/>
          <a:ln/>
        </p:spPr>
        <p:txBody>
          <a:bodyPr wrap="square" lIns="0" tIns="0" rIns="0" bIns="0" rtlCol="0" anchor="t"/>
          <a:lstStyle/>
          <a:p>
            <a:pPr indent="0" marL="0">
              <a:buNone/>
            </a:pPr>
            <a:r>
              <a:rPr lang="en-US" sz="1600" b="1" dirty="0">
                <a:solidFill>
                  <a:srgbClr val="0B3D3A"/>
                </a:solidFill>
                <a:latin typeface="Calibri" pitchFamily="34" charset="0"/>
                <a:ea typeface="Calibri" pitchFamily="34" charset="-122"/>
                <a:cs typeface="Calibri" pitchFamily="34" charset="-120"/>
              </a:rPr>
              <a:t>Formula-driven workbook</a:t>
            </a:r>
            <a:endParaRPr lang="en-US" sz="1600" dirty="0"/>
          </a:p>
        </p:txBody>
      </p:sp>
      <p:sp>
        <p:nvSpPr>
          <p:cNvPr id="24" name="Text 18"/>
          <p:cNvSpPr txBox="1"/>
          <p:nvPr/>
        </p:nvSpPr>
        <p:spPr>
          <a:xfrm>
            <a:off x="8138160" y="3035808"/>
            <a:ext cx="3383280" cy="548640"/>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Statements, consolidation, FX, covenants, red flags and a full judgment log</a:t>
            </a:r>
            <a:endParaRPr lang="en-US" sz="1200" dirty="0"/>
          </a:p>
        </p:txBody>
      </p:sp>
      <p:sp>
        <p:nvSpPr>
          <p:cNvPr id="25" name="output card 3"/>
          <p:cNvSpPr/>
          <p:nvPr/>
        </p:nvSpPr>
        <p:spPr>
          <a:xfrm>
            <a:off x="7132320" y="3794760"/>
            <a:ext cx="4480560" cy="1051560"/>
          </a:xfrm>
          <a:prstGeom prst="roundRect">
            <a:avLst>
              <a:gd name="adj" fmla="val 10435"/>
            </a:avLst>
          </a:prstGeom>
          <a:solidFill>
            <a:srgbClr val="EEF4F2"/>
          </a:solidFill>
          <a:ln w="12700">
            <a:solidFill>
              <a:srgbClr val="EEF4F2"/>
            </a:solidFill>
            <a:prstDash val="solid"/>
          </a:ln>
        </p:spPr>
      </p:sp>
      <p:sp>
        <p:nvSpPr>
          <p:cNvPr id="26" name="output 3 circle"/>
          <p:cNvSpPr/>
          <p:nvPr/>
        </p:nvSpPr>
        <p:spPr>
          <a:xfrm>
            <a:off x="7269480" y="3977640"/>
            <a:ext cx="685800" cy="685800"/>
          </a:xfrm>
          <a:prstGeom prst="ellipse">
            <a:avLst/>
          </a:prstGeom>
          <a:solidFill>
            <a:srgbClr val="0B3D3A"/>
          </a:solidFill>
          <a:ln w="12700">
            <a:solidFill>
              <a:srgbClr val="0B3D3A"/>
            </a:solidFill>
            <a:prstDash val="solid"/>
          </a:ln>
        </p:spPr>
      </p:sp>
      <p:pic>
        <p:nvPicPr>
          <p:cNvPr id="27" name="output 3 icon" descr="preencoded.png">    </p:cNvPr>
          <p:cNvPicPr>
            <a:picLocks noChangeAspect="1"/>
          </p:cNvPicPr>
          <p:nvPr/>
        </p:nvPicPr>
        <p:blipFill>
          <a:blip r:embed="rId5"/>
          <a:stretch>
            <a:fillRect/>
          </a:stretch>
        </p:blipFill>
        <p:spPr>
          <a:xfrm>
            <a:off x="7440930" y="4149090"/>
            <a:ext cx="342900" cy="342900"/>
          </a:xfrm>
          <a:prstGeom prst="rect">
            <a:avLst/>
          </a:prstGeom>
        </p:spPr>
      </p:pic>
      <p:sp>
        <p:nvSpPr>
          <p:cNvPr id="28" name="Text 21"/>
          <p:cNvSpPr txBox="1"/>
          <p:nvPr/>
        </p:nvSpPr>
        <p:spPr>
          <a:xfrm>
            <a:off x="8138160" y="3904488"/>
            <a:ext cx="3383280" cy="320040"/>
          </a:xfrm>
          <a:prstGeom prst="rect">
            <a:avLst/>
          </a:prstGeom>
          <a:noFill/>
          <a:ln/>
        </p:spPr>
        <p:txBody>
          <a:bodyPr wrap="square" lIns="0" tIns="0" rIns="0" bIns="0" rtlCol="0" anchor="t"/>
          <a:lstStyle/>
          <a:p>
            <a:pPr indent="0" marL="0">
              <a:buNone/>
            </a:pPr>
            <a:r>
              <a:rPr lang="en-US" sz="1600" b="1" dirty="0">
                <a:solidFill>
                  <a:srgbClr val="0B3D3A"/>
                </a:solidFill>
                <a:latin typeface="Calibri" pitchFamily="34" charset="0"/>
                <a:ea typeface="Calibri" pitchFamily="34" charset="-122"/>
                <a:cs typeface="Calibri" pitchFamily="34" charset="-120"/>
              </a:rPr>
              <a:t>Executive memo</a:t>
            </a:r>
            <a:endParaRPr lang="en-US" sz="1600" dirty="0"/>
          </a:p>
        </p:txBody>
      </p:sp>
      <p:sp>
        <p:nvSpPr>
          <p:cNvPr id="29" name="Text 22"/>
          <p:cNvSpPr txBox="1"/>
          <p:nvPr/>
        </p:nvSpPr>
        <p:spPr>
          <a:xfrm>
            <a:off x="8138160" y="4224528"/>
            <a:ext cx="3383280" cy="548640"/>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Ranked storylines, explained in plain language, every figure pulled from the workbook</a:t>
            </a:r>
            <a:endParaRPr lang="en-US" sz="1200" dirty="0"/>
          </a:p>
        </p:txBody>
      </p:sp>
      <p:sp>
        <p:nvSpPr>
          <p:cNvPr id="30" name="output card 4"/>
          <p:cNvSpPr/>
          <p:nvPr/>
        </p:nvSpPr>
        <p:spPr>
          <a:xfrm>
            <a:off x="7132320" y="4983480"/>
            <a:ext cx="4480560" cy="1051560"/>
          </a:xfrm>
          <a:prstGeom prst="roundRect">
            <a:avLst>
              <a:gd name="adj" fmla="val 10435"/>
            </a:avLst>
          </a:prstGeom>
          <a:solidFill>
            <a:srgbClr val="EEF4F2"/>
          </a:solidFill>
          <a:ln w="12700">
            <a:solidFill>
              <a:srgbClr val="EEF4F2"/>
            </a:solidFill>
            <a:prstDash val="solid"/>
          </a:ln>
        </p:spPr>
      </p:sp>
      <p:sp>
        <p:nvSpPr>
          <p:cNvPr id="31" name="output 4 circle"/>
          <p:cNvSpPr/>
          <p:nvPr/>
        </p:nvSpPr>
        <p:spPr>
          <a:xfrm>
            <a:off x="7269480" y="5166360"/>
            <a:ext cx="685800" cy="685800"/>
          </a:xfrm>
          <a:prstGeom prst="ellipse">
            <a:avLst/>
          </a:prstGeom>
          <a:solidFill>
            <a:srgbClr val="0B3D3A"/>
          </a:solidFill>
          <a:ln w="12700">
            <a:solidFill>
              <a:srgbClr val="0B3D3A"/>
            </a:solidFill>
            <a:prstDash val="solid"/>
          </a:ln>
        </p:spPr>
      </p:sp>
      <p:pic>
        <p:nvPicPr>
          <p:cNvPr id="32" name="output 4 icon" descr="preencoded.png">    </p:cNvPr>
          <p:cNvPicPr>
            <a:picLocks noChangeAspect="1"/>
          </p:cNvPicPr>
          <p:nvPr/>
        </p:nvPicPr>
        <p:blipFill>
          <a:blip r:embed="rId6"/>
          <a:stretch>
            <a:fillRect/>
          </a:stretch>
        </p:blipFill>
        <p:spPr>
          <a:xfrm>
            <a:off x="7440930" y="5337810"/>
            <a:ext cx="342900" cy="342900"/>
          </a:xfrm>
          <a:prstGeom prst="rect">
            <a:avLst/>
          </a:prstGeom>
        </p:spPr>
      </p:pic>
      <p:sp>
        <p:nvSpPr>
          <p:cNvPr id="33" name="Text 25"/>
          <p:cNvSpPr txBox="1"/>
          <p:nvPr/>
        </p:nvSpPr>
        <p:spPr>
          <a:xfrm>
            <a:off x="8138160" y="5093208"/>
            <a:ext cx="3383280" cy="320040"/>
          </a:xfrm>
          <a:prstGeom prst="rect">
            <a:avLst/>
          </a:prstGeom>
          <a:noFill/>
          <a:ln/>
        </p:spPr>
        <p:txBody>
          <a:bodyPr wrap="square" lIns="0" tIns="0" rIns="0" bIns="0" rtlCol="0" anchor="t"/>
          <a:lstStyle/>
          <a:p>
            <a:pPr indent="0" marL="0">
              <a:buNone/>
            </a:pPr>
            <a:r>
              <a:rPr lang="en-US" sz="1600" b="1" dirty="0">
                <a:solidFill>
                  <a:srgbClr val="0B3D3A"/>
                </a:solidFill>
                <a:latin typeface="Calibri" pitchFamily="34" charset="0"/>
                <a:ea typeface="Calibri" pitchFamily="34" charset="-122"/>
                <a:cs typeface="Calibri" pitchFamily="34" charset="-120"/>
              </a:rPr>
              <a:t>Board-ready deck</a:t>
            </a:r>
            <a:endParaRPr lang="en-US" sz="1600" dirty="0"/>
          </a:p>
        </p:txBody>
      </p:sp>
      <p:sp>
        <p:nvSpPr>
          <p:cNvPr id="34" name="Text 26"/>
          <p:cNvSpPr txBox="1"/>
          <p:nvPr/>
        </p:nvSpPr>
        <p:spPr>
          <a:xfrm>
            <a:off x="8138160" y="5413248"/>
            <a:ext cx="3383280" cy="548640"/>
          </a:xfrm>
          <a:prstGeom prst="rect">
            <a:avLst/>
          </a:prstGeom>
          <a:noFill/>
          <a:ln/>
        </p:spPr>
        <p:txBody>
          <a:bodyPr wrap="square" lIns="0" tIns="0" rIns="0" bIns="0" rtlCol="0" anchor="t"/>
          <a:lstStyle/>
          <a:p>
            <a:pPr indent="0" marL="0">
              <a:buNone/>
            </a:pPr>
            <a:r>
              <a:rPr lang="en-US" sz="1200" dirty="0">
                <a:solidFill>
                  <a:srgbClr val="5E6E73"/>
                </a:solidFill>
                <a:latin typeface="Calibri" pitchFamily="34" charset="0"/>
                <a:ea typeface="Calibri" pitchFamily="34" charset="-122"/>
                <a:cs typeface="Calibri" pitchFamily="34" charset="-120"/>
              </a:rPr>
              <a:t>Charts and key messages that match the memo and workbook exactly</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0B3D3A"/>
                </a:solidFill>
                <a:latin typeface="Cambria" pitchFamily="34" charset="0"/>
                <a:ea typeface="Cambria" pitchFamily="34" charset="-122"/>
                <a:cs typeface="Cambria" pitchFamily="34" charset="-120"/>
              </a:rPr>
              <a:t>Automation with a mandatory human checkpoint</a:t>
            </a:r>
            <a:endParaRPr lang="en-US" sz="3200" dirty="0"/>
          </a:p>
        </p:txBody>
      </p:sp>
      <p:sp>
        <p:nvSpPr>
          <p:cNvPr id="3" name="step card 1"/>
          <p:cNvSpPr/>
          <p:nvPr/>
        </p:nvSpPr>
        <p:spPr>
          <a:xfrm>
            <a:off x="548640" y="1828800"/>
            <a:ext cx="1700784" cy="2834640"/>
          </a:xfrm>
          <a:prstGeom prst="roundRect">
            <a:avLst>
              <a:gd name="adj" fmla="val 6452"/>
            </a:avLst>
          </a:prstGeom>
          <a:solidFill>
            <a:srgbClr val="EEF4F2"/>
          </a:solidFill>
          <a:ln w="12700">
            <a:solidFill>
              <a:srgbClr val="EEF4F2"/>
            </a:solidFill>
            <a:prstDash val="solid"/>
          </a:ln>
        </p:spPr>
      </p:sp>
      <p:sp>
        <p:nvSpPr>
          <p:cNvPr id="4" name="step num 1"/>
          <p:cNvSpPr/>
          <p:nvPr/>
        </p:nvSpPr>
        <p:spPr>
          <a:xfrm>
            <a:off x="1078992" y="2057400"/>
            <a:ext cx="640080" cy="640080"/>
          </a:xfrm>
          <a:prstGeom prst="ellipse">
            <a:avLst/>
          </a:prstGeom>
          <a:solidFill>
            <a:srgbClr val="3E7C74"/>
          </a:solidFill>
          <a:ln w="12700">
            <a:solidFill>
              <a:srgbClr val="3E7C74"/>
            </a:solidFill>
            <a:prstDash val="solid"/>
          </a:ln>
        </p:spPr>
      </p:sp>
      <p:sp>
        <p:nvSpPr>
          <p:cNvPr id="5" name="Text 3"/>
          <p:cNvSpPr txBox="1"/>
          <p:nvPr/>
        </p:nvSpPr>
        <p:spPr>
          <a:xfrm>
            <a:off x="1078992" y="20574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658368" y="2880360"/>
            <a:ext cx="1481328" cy="640080"/>
          </a:xfrm>
          <a:prstGeom prst="rect">
            <a:avLst/>
          </a:prstGeom>
          <a:noFill/>
          <a:ln/>
        </p:spPr>
        <p:txBody>
          <a:bodyPr wrap="square" lIns="0" tIns="0" rIns="0" bIns="0" rtlCol="0" anchor="t"/>
          <a:lstStyle/>
          <a:p>
            <a:pPr algn="ctr" indent="0" marL="0">
              <a:buNone/>
            </a:pPr>
            <a:r>
              <a:rPr lang="en-US" sz="1500" b="1" dirty="0">
                <a:solidFill>
                  <a:srgbClr val="0B3D3A"/>
                </a:solidFill>
                <a:latin typeface="Calibri" pitchFamily="34" charset="0"/>
                <a:ea typeface="Calibri" pitchFamily="34" charset="-122"/>
                <a:cs typeface="Calibri" pitchFamily="34" charset="-120"/>
              </a:rPr>
              <a:t>Setup check</a:t>
            </a:r>
            <a:endParaRPr lang="en-US" sz="1500" dirty="0"/>
          </a:p>
        </p:txBody>
      </p:sp>
      <p:sp>
        <p:nvSpPr>
          <p:cNvPr id="7" name="Text 5"/>
          <p:cNvSpPr txBox="1"/>
          <p:nvPr/>
        </p:nvSpPr>
        <p:spPr>
          <a:xfrm>
            <a:off x="658368" y="3566160"/>
            <a:ext cx="1481328" cy="1005840"/>
          </a:xfrm>
          <a:prstGeom prst="rect">
            <a:avLst/>
          </a:prstGeom>
          <a:noFill/>
          <a:ln/>
        </p:spPr>
        <p:txBody>
          <a:bodyPr wrap="square" lIns="0" tIns="0" rIns="0" bIns="0" rtlCol="0" anchor="t"/>
          <a:lstStyle/>
          <a:p>
            <a:pPr algn="ctr" indent="0" marL="0">
              <a:buNone/>
            </a:pPr>
            <a:r>
              <a:rPr lang="en-US" sz="1200" dirty="0">
                <a:solidFill>
                  <a:srgbClr val="5E6E73"/>
                </a:solidFill>
                <a:latin typeface="Calibri" pitchFamily="34" charset="0"/>
                <a:ea typeface="Calibri" pitchFamily="34" charset="-122"/>
                <a:cs typeface="Calibri" pitchFamily="34" charset="-120"/>
              </a:rPr>
              <a:t>Confirms folders, file and sync status</a:t>
            </a:r>
            <a:endParaRPr lang="en-US" sz="1200" dirty="0"/>
          </a:p>
        </p:txBody>
      </p:sp>
      <p:sp>
        <p:nvSpPr>
          <p:cNvPr id="8" name="step card 2"/>
          <p:cNvSpPr/>
          <p:nvPr/>
        </p:nvSpPr>
        <p:spPr>
          <a:xfrm>
            <a:off x="2432304" y="1828800"/>
            <a:ext cx="1700784" cy="2834640"/>
          </a:xfrm>
          <a:prstGeom prst="roundRect">
            <a:avLst>
              <a:gd name="adj" fmla="val 6452"/>
            </a:avLst>
          </a:prstGeom>
          <a:solidFill>
            <a:srgbClr val="EEF4F2"/>
          </a:solidFill>
          <a:ln w="12700">
            <a:solidFill>
              <a:srgbClr val="EEF4F2"/>
            </a:solidFill>
            <a:prstDash val="solid"/>
          </a:ln>
        </p:spPr>
      </p:sp>
      <p:sp>
        <p:nvSpPr>
          <p:cNvPr id="9" name="step num 2"/>
          <p:cNvSpPr/>
          <p:nvPr/>
        </p:nvSpPr>
        <p:spPr>
          <a:xfrm>
            <a:off x="2962656" y="2057400"/>
            <a:ext cx="640080" cy="640080"/>
          </a:xfrm>
          <a:prstGeom prst="ellipse">
            <a:avLst/>
          </a:prstGeom>
          <a:solidFill>
            <a:srgbClr val="3E7C74"/>
          </a:solidFill>
          <a:ln w="12700">
            <a:solidFill>
              <a:srgbClr val="3E7C74"/>
            </a:solidFill>
            <a:prstDash val="solid"/>
          </a:ln>
        </p:spPr>
      </p:sp>
      <p:sp>
        <p:nvSpPr>
          <p:cNvPr id="10" name="Text 8"/>
          <p:cNvSpPr txBox="1"/>
          <p:nvPr/>
        </p:nvSpPr>
        <p:spPr>
          <a:xfrm>
            <a:off x="2962656" y="20574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txBox="1"/>
          <p:nvPr/>
        </p:nvSpPr>
        <p:spPr>
          <a:xfrm>
            <a:off x="2542032" y="2880360"/>
            <a:ext cx="1481328" cy="640080"/>
          </a:xfrm>
          <a:prstGeom prst="rect">
            <a:avLst/>
          </a:prstGeom>
          <a:noFill/>
          <a:ln/>
        </p:spPr>
        <p:txBody>
          <a:bodyPr wrap="square" lIns="0" tIns="0" rIns="0" bIns="0" rtlCol="0" anchor="t"/>
          <a:lstStyle/>
          <a:p>
            <a:pPr algn="ctr" indent="0" marL="0">
              <a:buNone/>
            </a:pPr>
            <a:r>
              <a:rPr lang="en-US" sz="1500" b="1" dirty="0">
                <a:solidFill>
                  <a:srgbClr val="0B3D3A"/>
                </a:solidFill>
                <a:latin typeface="Calibri" pitchFamily="34" charset="0"/>
                <a:ea typeface="Calibri" pitchFamily="34" charset="-122"/>
                <a:cs typeface="Calibri" pitchFamily="34" charset="-120"/>
              </a:rPr>
              <a:t>Triage &amp; parse</a:t>
            </a:r>
            <a:endParaRPr lang="en-US" sz="1500" dirty="0"/>
          </a:p>
        </p:txBody>
      </p:sp>
      <p:sp>
        <p:nvSpPr>
          <p:cNvPr id="12" name="Text 10"/>
          <p:cNvSpPr txBox="1"/>
          <p:nvPr/>
        </p:nvSpPr>
        <p:spPr>
          <a:xfrm>
            <a:off x="2542032" y="3566160"/>
            <a:ext cx="1481328" cy="1005840"/>
          </a:xfrm>
          <a:prstGeom prst="rect">
            <a:avLst/>
          </a:prstGeom>
          <a:noFill/>
          <a:ln/>
        </p:spPr>
        <p:txBody>
          <a:bodyPr wrap="square" lIns="0" tIns="0" rIns="0" bIns="0" rtlCol="0" anchor="t"/>
          <a:lstStyle/>
          <a:p>
            <a:pPr algn="ctr" indent="0" marL="0">
              <a:buNone/>
            </a:pPr>
            <a:r>
              <a:rPr lang="en-US" sz="1200" dirty="0">
                <a:solidFill>
                  <a:srgbClr val="5E6E73"/>
                </a:solidFill>
                <a:latin typeface="Calibri" pitchFamily="34" charset="0"/>
                <a:ea typeface="Calibri" pitchFamily="34" charset="-122"/>
                <a:cs typeface="Calibri" pitchFamily="34" charset="-120"/>
              </a:rPr>
              <a:t>Classifies every tab; detects locale, scale, language</a:t>
            </a:r>
            <a:endParaRPr lang="en-US" sz="1200" dirty="0"/>
          </a:p>
        </p:txBody>
      </p:sp>
      <p:sp>
        <p:nvSpPr>
          <p:cNvPr id="13" name="step card 3"/>
          <p:cNvSpPr/>
          <p:nvPr/>
        </p:nvSpPr>
        <p:spPr>
          <a:xfrm>
            <a:off x="4315968" y="1828800"/>
            <a:ext cx="1700784" cy="2834640"/>
          </a:xfrm>
          <a:prstGeom prst="roundRect">
            <a:avLst>
              <a:gd name="adj" fmla="val 6452"/>
            </a:avLst>
          </a:prstGeom>
          <a:solidFill>
            <a:srgbClr val="EEF4F2"/>
          </a:solidFill>
          <a:ln w="12700">
            <a:solidFill>
              <a:srgbClr val="EEF4F2"/>
            </a:solidFill>
            <a:prstDash val="solid"/>
          </a:ln>
        </p:spPr>
      </p:sp>
      <p:sp>
        <p:nvSpPr>
          <p:cNvPr id="14" name="step num 3"/>
          <p:cNvSpPr/>
          <p:nvPr/>
        </p:nvSpPr>
        <p:spPr>
          <a:xfrm>
            <a:off x="4846320" y="2057400"/>
            <a:ext cx="640080" cy="640080"/>
          </a:xfrm>
          <a:prstGeom prst="ellipse">
            <a:avLst/>
          </a:prstGeom>
          <a:solidFill>
            <a:srgbClr val="3E7C74"/>
          </a:solidFill>
          <a:ln w="12700">
            <a:solidFill>
              <a:srgbClr val="3E7C74"/>
            </a:solidFill>
            <a:prstDash val="solid"/>
          </a:ln>
        </p:spPr>
      </p:sp>
      <p:sp>
        <p:nvSpPr>
          <p:cNvPr id="15" name="Text 13"/>
          <p:cNvSpPr txBox="1"/>
          <p:nvPr/>
        </p:nvSpPr>
        <p:spPr>
          <a:xfrm>
            <a:off x="4846320" y="20574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txBox="1"/>
          <p:nvPr/>
        </p:nvSpPr>
        <p:spPr>
          <a:xfrm>
            <a:off x="4425696" y="2880360"/>
            <a:ext cx="1481328" cy="640080"/>
          </a:xfrm>
          <a:prstGeom prst="rect">
            <a:avLst/>
          </a:prstGeom>
          <a:noFill/>
          <a:ln/>
        </p:spPr>
        <p:txBody>
          <a:bodyPr wrap="square" lIns="0" tIns="0" rIns="0" bIns="0" rtlCol="0" anchor="t"/>
          <a:lstStyle/>
          <a:p>
            <a:pPr algn="ctr" indent="0" marL="0">
              <a:buNone/>
            </a:pPr>
            <a:r>
              <a:rPr lang="en-US" sz="1500" b="1" dirty="0">
                <a:solidFill>
                  <a:srgbClr val="0B3D3A"/>
                </a:solidFill>
                <a:latin typeface="Calibri" pitchFamily="34" charset="0"/>
                <a:ea typeface="Calibri" pitchFamily="34" charset="-122"/>
                <a:cs typeface="Calibri" pitchFamily="34" charset="-120"/>
              </a:rPr>
              <a:t>Validate</a:t>
            </a:r>
            <a:endParaRPr lang="en-US" sz="1500" dirty="0"/>
          </a:p>
        </p:txBody>
      </p:sp>
      <p:sp>
        <p:nvSpPr>
          <p:cNvPr id="17" name="Text 15"/>
          <p:cNvSpPr txBox="1"/>
          <p:nvPr/>
        </p:nvSpPr>
        <p:spPr>
          <a:xfrm>
            <a:off x="4425696" y="3566160"/>
            <a:ext cx="1481328" cy="1005840"/>
          </a:xfrm>
          <a:prstGeom prst="rect">
            <a:avLst/>
          </a:prstGeom>
          <a:noFill/>
          <a:ln/>
        </p:spPr>
        <p:txBody>
          <a:bodyPr wrap="square" lIns="0" tIns="0" rIns="0" bIns="0" rtlCol="0" anchor="t"/>
          <a:lstStyle/>
          <a:p>
            <a:pPr algn="ctr" indent="0" marL="0">
              <a:buNone/>
            </a:pPr>
            <a:r>
              <a:rPr lang="en-US" sz="1200" dirty="0">
                <a:solidFill>
                  <a:srgbClr val="5E6E73"/>
                </a:solidFill>
                <a:latin typeface="Calibri" pitchFamily="34" charset="0"/>
                <a:ea typeface="Calibri" pitchFamily="34" charset="-122"/>
                <a:cs typeface="Calibri" pitchFamily="34" charset="-120"/>
              </a:rPr>
              <a:t>Tie-outs, gaps, duplicates, data-shape traps</a:t>
            </a:r>
            <a:endParaRPr lang="en-US" sz="1200" dirty="0"/>
          </a:p>
        </p:txBody>
      </p:sp>
      <p:sp>
        <p:nvSpPr>
          <p:cNvPr id="18" name="step card 4"/>
          <p:cNvSpPr/>
          <p:nvPr/>
        </p:nvSpPr>
        <p:spPr>
          <a:xfrm>
            <a:off x="6199632" y="1828800"/>
            <a:ext cx="1700784" cy="2834640"/>
          </a:xfrm>
          <a:prstGeom prst="roundRect">
            <a:avLst>
              <a:gd name="adj" fmla="val 6452"/>
            </a:avLst>
          </a:prstGeom>
          <a:solidFill>
            <a:srgbClr val="C9A227"/>
          </a:solidFill>
          <a:ln w="12700">
            <a:solidFill>
              <a:srgbClr val="C9A227"/>
            </a:solidFill>
            <a:prstDash val="solid"/>
          </a:ln>
        </p:spPr>
      </p:sp>
      <p:sp>
        <p:nvSpPr>
          <p:cNvPr id="19" name="step num 4"/>
          <p:cNvSpPr/>
          <p:nvPr/>
        </p:nvSpPr>
        <p:spPr>
          <a:xfrm>
            <a:off x="6729984" y="2057400"/>
            <a:ext cx="640080" cy="640080"/>
          </a:xfrm>
          <a:prstGeom prst="ellipse">
            <a:avLst/>
          </a:prstGeom>
          <a:solidFill>
            <a:srgbClr val="0B3D3A"/>
          </a:solidFill>
          <a:ln w="12700">
            <a:solidFill>
              <a:srgbClr val="0B3D3A"/>
            </a:solidFill>
            <a:prstDash val="solid"/>
          </a:ln>
        </p:spPr>
      </p:sp>
      <p:sp>
        <p:nvSpPr>
          <p:cNvPr id="20" name="Text 18"/>
          <p:cNvSpPr txBox="1"/>
          <p:nvPr/>
        </p:nvSpPr>
        <p:spPr>
          <a:xfrm>
            <a:off x="6729984" y="20574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9"/>
          <p:cNvSpPr txBox="1"/>
          <p:nvPr/>
        </p:nvSpPr>
        <p:spPr>
          <a:xfrm>
            <a:off x="6309360" y="2880360"/>
            <a:ext cx="1481328" cy="640080"/>
          </a:xfrm>
          <a:prstGeom prst="rect">
            <a:avLst/>
          </a:prstGeom>
          <a:noFill/>
          <a:ln/>
        </p:spPr>
        <p:txBody>
          <a:bodyPr wrap="square" lIns="0" tIns="0" rIns="0" bIns="0" rtlCol="0" anchor="t"/>
          <a:lstStyle/>
          <a:p>
            <a:pPr algn="ctr" indent="0" marL="0">
              <a:buNone/>
            </a:pPr>
            <a:r>
              <a:rPr lang="en-US" sz="1500" b="1" dirty="0">
                <a:solidFill>
                  <a:srgbClr val="0B3D3A"/>
                </a:solidFill>
                <a:latin typeface="Calibri" pitchFamily="34" charset="0"/>
                <a:ea typeface="Calibri" pitchFamily="34" charset="-122"/>
                <a:cs typeface="Calibri" pitchFamily="34" charset="-120"/>
              </a:rPr>
              <a:t>Checkpoint</a:t>
            </a:r>
            <a:endParaRPr lang="en-US" sz="1500" dirty="0"/>
          </a:p>
        </p:txBody>
      </p:sp>
      <p:sp>
        <p:nvSpPr>
          <p:cNvPr id="22" name="Text 20"/>
          <p:cNvSpPr txBox="1"/>
          <p:nvPr/>
        </p:nvSpPr>
        <p:spPr>
          <a:xfrm>
            <a:off x="6309360" y="3566160"/>
            <a:ext cx="1481328" cy="1005840"/>
          </a:xfrm>
          <a:prstGeom prst="rect">
            <a:avLst/>
          </a:prstGeom>
          <a:noFill/>
          <a:ln/>
        </p:spPr>
        <p:txBody>
          <a:bodyPr wrap="square" lIns="0" tIns="0" rIns="0" bIns="0" rtlCol="0" anchor="t"/>
          <a:lstStyle/>
          <a:p>
            <a:pPr algn="ctr" indent="0" marL="0">
              <a:buNone/>
            </a:pPr>
            <a:r>
              <a:rPr lang="en-US" sz="1200" dirty="0">
                <a:solidFill>
                  <a:srgbClr val="1F2A2E"/>
                </a:solidFill>
                <a:latin typeface="Calibri" pitchFamily="34" charset="0"/>
                <a:ea typeface="Calibri" pitchFamily="34" charset="-122"/>
                <a:cs typeface="Calibri" pitchFamily="34" charset="-120"/>
              </a:rPr>
              <a:t>You review the validation report and answer questions</a:t>
            </a:r>
            <a:endParaRPr lang="en-US" sz="1200" dirty="0"/>
          </a:p>
        </p:txBody>
      </p:sp>
      <p:sp>
        <p:nvSpPr>
          <p:cNvPr id="23" name="step card 5"/>
          <p:cNvSpPr/>
          <p:nvPr/>
        </p:nvSpPr>
        <p:spPr>
          <a:xfrm>
            <a:off x="8083296" y="1828800"/>
            <a:ext cx="1700784" cy="2834640"/>
          </a:xfrm>
          <a:prstGeom prst="roundRect">
            <a:avLst>
              <a:gd name="adj" fmla="val 6452"/>
            </a:avLst>
          </a:prstGeom>
          <a:solidFill>
            <a:srgbClr val="EEF4F2"/>
          </a:solidFill>
          <a:ln w="12700">
            <a:solidFill>
              <a:srgbClr val="EEF4F2"/>
            </a:solidFill>
            <a:prstDash val="solid"/>
          </a:ln>
        </p:spPr>
      </p:sp>
      <p:sp>
        <p:nvSpPr>
          <p:cNvPr id="24" name="step num 5"/>
          <p:cNvSpPr/>
          <p:nvPr/>
        </p:nvSpPr>
        <p:spPr>
          <a:xfrm>
            <a:off x="8613648" y="2057400"/>
            <a:ext cx="640080" cy="640080"/>
          </a:xfrm>
          <a:prstGeom prst="ellipse">
            <a:avLst/>
          </a:prstGeom>
          <a:solidFill>
            <a:srgbClr val="3E7C74"/>
          </a:solidFill>
          <a:ln w="12700">
            <a:solidFill>
              <a:srgbClr val="3E7C74"/>
            </a:solidFill>
            <a:prstDash val="solid"/>
          </a:ln>
        </p:spPr>
      </p:sp>
      <p:sp>
        <p:nvSpPr>
          <p:cNvPr id="25" name="Text 23"/>
          <p:cNvSpPr txBox="1"/>
          <p:nvPr/>
        </p:nvSpPr>
        <p:spPr>
          <a:xfrm>
            <a:off x="8613648" y="20574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6" name="Text 24"/>
          <p:cNvSpPr txBox="1"/>
          <p:nvPr/>
        </p:nvSpPr>
        <p:spPr>
          <a:xfrm>
            <a:off x="8193024" y="2880360"/>
            <a:ext cx="1481328" cy="640080"/>
          </a:xfrm>
          <a:prstGeom prst="rect">
            <a:avLst/>
          </a:prstGeom>
          <a:noFill/>
          <a:ln/>
        </p:spPr>
        <p:txBody>
          <a:bodyPr wrap="square" lIns="0" tIns="0" rIns="0" bIns="0" rtlCol="0" anchor="t"/>
          <a:lstStyle/>
          <a:p>
            <a:pPr algn="ctr" indent="0" marL="0">
              <a:buNone/>
            </a:pPr>
            <a:r>
              <a:rPr lang="en-US" sz="1500" b="1" dirty="0">
                <a:solidFill>
                  <a:srgbClr val="0B3D3A"/>
                </a:solidFill>
                <a:latin typeface="Calibri" pitchFamily="34" charset="0"/>
                <a:ea typeface="Calibri" pitchFamily="34" charset="-122"/>
                <a:cs typeface="Calibri" pitchFamily="34" charset="-120"/>
              </a:rPr>
              <a:t>Consolidate &amp; analyse</a:t>
            </a:r>
            <a:endParaRPr lang="en-US" sz="1500" dirty="0"/>
          </a:p>
        </p:txBody>
      </p:sp>
      <p:sp>
        <p:nvSpPr>
          <p:cNvPr id="27" name="Text 25"/>
          <p:cNvSpPr txBox="1"/>
          <p:nvPr/>
        </p:nvSpPr>
        <p:spPr>
          <a:xfrm>
            <a:off x="8193024" y="3566160"/>
            <a:ext cx="1481328" cy="1005840"/>
          </a:xfrm>
          <a:prstGeom prst="rect">
            <a:avLst/>
          </a:prstGeom>
          <a:noFill/>
          <a:ln/>
        </p:spPr>
        <p:txBody>
          <a:bodyPr wrap="square" lIns="0" tIns="0" rIns="0" bIns="0" rtlCol="0" anchor="t"/>
          <a:lstStyle/>
          <a:p>
            <a:pPr algn="ctr" indent="0" marL="0">
              <a:buNone/>
            </a:pPr>
            <a:r>
              <a:rPr lang="en-US" sz="1200" dirty="0">
                <a:solidFill>
                  <a:srgbClr val="5E6E73"/>
                </a:solidFill>
                <a:latin typeface="Calibri" pitchFamily="34" charset="0"/>
                <a:ea typeface="Calibri" pitchFamily="34" charset="-122"/>
                <a:cs typeface="Calibri" pitchFamily="34" charset="-120"/>
              </a:rPr>
              <a:t>Entities, FX, NCI, eliminations, drivers, red flags</a:t>
            </a:r>
            <a:endParaRPr lang="en-US" sz="1200" dirty="0"/>
          </a:p>
        </p:txBody>
      </p:sp>
      <p:sp>
        <p:nvSpPr>
          <p:cNvPr id="28" name="step card 6"/>
          <p:cNvSpPr/>
          <p:nvPr/>
        </p:nvSpPr>
        <p:spPr>
          <a:xfrm>
            <a:off x="9966960" y="1828800"/>
            <a:ext cx="1700784" cy="2834640"/>
          </a:xfrm>
          <a:prstGeom prst="roundRect">
            <a:avLst>
              <a:gd name="adj" fmla="val 6452"/>
            </a:avLst>
          </a:prstGeom>
          <a:solidFill>
            <a:srgbClr val="EEF4F2"/>
          </a:solidFill>
          <a:ln w="12700">
            <a:solidFill>
              <a:srgbClr val="EEF4F2"/>
            </a:solidFill>
            <a:prstDash val="solid"/>
          </a:ln>
        </p:spPr>
      </p:sp>
      <p:sp>
        <p:nvSpPr>
          <p:cNvPr id="29" name="step num 6"/>
          <p:cNvSpPr/>
          <p:nvPr/>
        </p:nvSpPr>
        <p:spPr>
          <a:xfrm>
            <a:off x="10497312" y="2057400"/>
            <a:ext cx="640080" cy="640080"/>
          </a:xfrm>
          <a:prstGeom prst="ellipse">
            <a:avLst/>
          </a:prstGeom>
          <a:solidFill>
            <a:srgbClr val="3E7C74"/>
          </a:solidFill>
          <a:ln w="12700">
            <a:solidFill>
              <a:srgbClr val="3E7C74"/>
            </a:solidFill>
            <a:prstDash val="solid"/>
          </a:ln>
        </p:spPr>
      </p:sp>
      <p:sp>
        <p:nvSpPr>
          <p:cNvPr id="30" name="Text 28"/>
          <p:cNvSpPr txBox="1"/>
          <p:nvPr/>
        </p:nvSpPr>
        <p:spPr>
          <a:xfrm>
            <a:off x="10497312" y="20574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1" name="Text 29"/>
          <p:cNvSpPr txBox="1"/>
          <p:nvPr/>
        </p:nvSpPr>
        <p:spPr>
          <a:xfrm>
            <a:off x="10076688" y="2880360"/>
            <a:ext cx="1481328" cy="640080"/>
          </a:xfrm>
          <a:prstGeom prst="rect">
            <a:avLst/>
          </a:prstGeom>
          <a:noFill/>
          <a:ln/>
        </p:spPr>
        <p:txBody>
          <a:bodyPr wrap="square" lIns="0" tIns="0" rIns="0" bIns="0" rtlCol="0" anchor="t"/>
          <a:lstStyle/>
          <a:p>
            <a:pPr algn="ctr" indent="0" marL="0">
              <a:buNone/>
            </a:pPr>
            <a:r>
              <a:rPr lang="en-US" sz="1500" b="1" dirty="0">
                <a:solidFill>
                  <a:srgbClr val="0B3D3A"/>
                </a:solidFill>
                <a:latin typeface="Calibri" pitchFamily="34" charset="0"/>
                <a:ea typeface="Calibri" pitchFamily="34" charset="-122"/>
                <a:cs typeface="Calibri" pitchFamily="34" charset="-120"/>
              </a:rPr>
              <a:t>Draft &amp; QA</a:t>
            </a:r>
            <a:endParaRPr lang="en-US" sz="1500" dirty="0"/>
          </a:p>
        </p:txBody>
      </p:sp>
      <p:sp>
        <p:nvSpPr>
          <p:cNvPr id="32" name="Text 30"/>
          <p:cNvSpPr txBox="1"/>
          <p:nvPr/>
        </p:nvSpPr>
        <p:spPr>
          <a:xfrm>
            <a:off x="10076688" y="3566160"/>
            <a:ext cx="1481328" cy="1005840"/>
          </a:xfrm>
          <a:prstGeom prst="rect">
            <a:avLst/>
          </a:prstGeom>
          <a:noFill/>
          <a:ln/>
        </p:spPr>
        <p:txBody>
          <a:bodyPr wrap="square" lIns="0" tIns="0" rIns="0" bIns="0" rtlCol="0" anchor="t"/>
          <a:lstStyle/>
          <a:p>
            <a:pPr algn="ctr" indent="0" marL="0">
              <a:buNone/>
            </a:pPr>
            <a:r>
              <a:rPr lang="en-US" sz="1200" dirty="0">
                <a:solidFill>
                  <a:srgbClr val="5E6E73"/>
                </a:solidFill>
                <a:latin typeface="Calibri" pitchFamily="34" charset="0"/>
                <a:ea typeface="Calibri" pitchFamily="34" charset="-122"/>
                <a:cs typeface="Calibri" pitchFamily="34" charset="-120"/>
              </a:rPr>
              <a:t>Workbook, memo, deck; automated cross-checks</a:t>
            </a:r>
            <a:endParaRPr lang="en-US" sz="1200" dirty="0"/>
          </a:p>
        </p:txBody>
      </p:sp>
      <p:sp>
        <p:nvSpPr>
          <p:cNvPr id="33" name="checkpoint circle"/>
          <p:cNvSpPr/>
          <p:nvPr/>
        </p:nvSpPr>
        <p:spPr>
          <a:xfrm>
            <a:off x="548640" y="5074920"/>
            <a:ext cx="640080" cy="640080"/>
          </a:xfrm>
          <a:prstGeom prst="ellipse">
            <a:avLst/>
          </a:prstGeom>
          <a:solidFill>
            <a:srgbClr val="0B3D3A"/>
          </a:solidFill>
          <a:ln w="12700">
            <a:solidFill>
              <a:srgbClr val="0B3D3A"/>
            </a:solidFill>
            <a:prstDash val="solid"/>
          </a:ln>
        </p:spPr>
      </p:sp>
      <p:pic>
        <p:nvPicPr>
          <p:cNvPr id="34" name="checkpoint icon" descr="preencoded.png">    </p:cNvPr>
          <p:cNvPicPr>
            <a:picLocks noChangeAspect="1"/>
          </p:cNvPicPr>
          <p:nvPr/>
        </p:nvPicPr>
        <p:blipFill>
          <a:blip r:embed="rId1"/>
          <a:stretch>
            <a:fillRect/>
          </a:stretch>
        </p:blipFill>
        <p:spPr>
          <a:xfrm>
            <a:off x="708660" y="5234940"/>
            <a:ext cx="320040" cy="320040"/>
          </a:xfrm>
          <a:prstGeom prst="rect">
            <a:avLst/>
          </a:prstGeom>
        </p:spPr>
      </p:pic>
      <p:sp>
        <p:nvSpPr>
          <p:cNvPr id="35" name="Text 32"/>
          <p:cNvSpPr txBox="1"/>
          <p:nvPr/>
        </p:nvSpPr>
        <p:spPr>
          <a:xfrm>
            <a:off x="1371600" y="5029200"/>
            <a:ext cx="10241280" cy="822960"/>
          </a:xfrm>
          <a:prstGeom prst="rect">
            <a:avLst/>
          </a:prstGeom>
          <a:noFill/>
          <a:ln/>
        </p:spPr>
        <p:txBody>
          <a:bodyPr wrap="square" lIns="0" tIns="0" rIns="0" bIns="0" rtlCol="0" anchor="t"/>
          <a:lstStyle/>
          <a:p>
            <a:pPr indent="0" marL="0">
              <a:buNone/>
            </a:pPr>
            <a:r>
              <a:rPr lang="en-US" sz="1500" b="1" dirty="0">
                <a:solidFill>
                  <a:srgbClr val="0B3D3A"/>
                </a:solidFill>
                <a:latin typeface="Calibri" pitchFamily="34" charset="0"/>
                <a:ea typeface="Calibri" pitchFamily="34" charset="-122"/>
                <a:cs typeface="Calibri" pitchFamily="34" charset="-120"/>
              </a:rPr>
              <a:t>Nothing is consolidated until a person signs off. </a:t>
            </a:r>
            <a:pPr indent="0" marL="0">
              <a:buNone/>
            </a:pPr>
            <a:r>
              <a:rPr lang="en-US" sz="1500" dirty="0">
                <a:solidFill>
                  <a:srgbClr val="1F2A2E"/>
                </a:solidFill>
                <a:latin typeface="Calibri" pitchFamily="34" charset="0"/>
                <a:ea typeface="Calibri" pitchFamily="34" charset="-122"/>
                <a:cs typeface="Calibri" pitchFamily="34" charset="-120"/>
              </a:rPr>
              <a:t>Low-confidence questions are batched into one round, so reviewers answer once, not repeatedly. High-confidence decisions proceed automatically and are logged for audit.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0B3D3A"/>
                </a:solidFill>
                <a:latin typeface="Cambria" pitchFamily="34" charset="0"/>
                <a:ea typeface="Cambria" pitchFamily="34" charset="-122"/>
                <a:cs typeface="Cambria" pitchFamily="34" charset="-120"/>
              </a:rPr>
              <a:t>It reads client files the way they really arrive</a:t>
            </a:r>
            <a:endParaRPr lang="en-US" sz="3200" dirty="0"/>
          </a:p>
        </p:txBody>
      </p:sp>
      <p:sp>
        <p:nvSpPr>
          <p:cNvPr id="3" name="trap card 1"/>
          <p:cNvSpPr/>
          <p:nvPr/>
        </p:nvSpPr>
        <p:spPr>
          <a:xfrm>
            <a:off x="548640" y="1508760"/>
            <a:ext cx="2606040" cy="1874520"/>
          </a:xfrm>
          <a:prstGeom prst="roundRect">
            <a:avLst>
              <a:gd name="adj" fmla="val 5854"/>
            </a:avLst>
          </a:prstGeom>
          <a:solidFill>
            <a:srgbClr val="EEF4F2"/>
          </a:solidFill>
          <a:ln w="12700">
            <a:solidFill>
              <a:srgbClr val="EEF4F2"/>
            </a:solidFill>
            <a:prstDash val="solid"/>
          </a:ln>
        </p:spPr>
      </p:sp>
      <p:sp>
        <p:nvSpPr>
          <p:cNvPr id="4" name="trap 1 circle"/>
          <p:cNvSpPr/>
          <p:nvPr/>
        </p:nvSpPr>
        <p:spPr>
          <a:xfrm>
            <a:off x="777240" y="1737360"/>
            <a:ext cx="594360" cy="594360"/>
          </a:xfrm>
          <a:prstGeom prst="ellipse">
            <a:avLst/>
          </a:prstGeom>
          <a:solidFill>
            <a:srgbClr val="3E7C74"/>
          </a:solidFill>
          <a:ln w="12700">
            <a:solidFill>
              <a:srgbClr val="3E7C74"/>
            </a:solidFill>
            <a:prstDash val="solid"/>
          </a:ln>
        </p:spPr>
      </p:sp>
      <p:pic>
        <p:nvPicPr>
          <p:cNvPr id="5" name="trap 1 icon" descr="preencoded.png">    </p:cNvPr>
          <p:cNvPicPr>
            <a:picLocks noChangeAspect="1"/>
          </p:cNvPicPr>
          <p:nvPr/>
        </p:nvPicPr>
        <p:blipFill>
          <a:blip r:embed="rId1"/>
          <a:stretch>
            <a:fillRect/>
          </a:stretch>
        </p:blipFill>
        <p:spPr>
          <a:xfrm>
            <a:off x="925830" y="1885950"/>
            <a:ext cx="297180" cy="297180"/>
          </a:xfrm>
          <a:prstGeom prst="rect">
            <a:avLst/>
          </a:prstGeom>
        </p:spPr>
      </p:pic>
      <p:sp>
        <p:nvSpPr>
          <p:cNvPr id="6" name="Text 3"/>
          <p:cNvSpPr txBox="1"/>
          <p:nvPr/>
        </p:nvSpPr>
        <p:spPr>
          <a:xfrm>
            <a:off x="777240" y="2423160"/>
            <a:ext cx="2194560" cy="411480"/>
          </a:xfrm>
          <a:prstGeom prst="rect">
            <a:avLst/>
          </a:prstGeom>
          <a:noFill/>
          <a:ln/>
        </p:spPr>
        <p:txBody>
          <a:bodyPr wrap="square" lIns="0" tIns="0" rIns="0" bIns="0" rtlCol="0" anchor="t"/>
          <a:lstStyle/>
          <a:p>
            <a:pPr indent="0" marL="0">
              <a:buNone/>
            </a:pPr>
            <a:r>
              <a:rPr lang="en-US" sz="1500" b="1" dirty="0">
                <a:solidFill>
                  <a:srgbClr val="0B3D3A"/>
                </a:solidFill>
                <a:latin typeface="Calibri" pitchFamily="34" charset="0"/>
                <a:ea typeface="Calibri" pitchFamily="34" charset="-122"/>
                <a:cs typeface="Calibri" pitchFamily="34" charset="-120"/>
              </a:rPr>
              <a:t>Year-to-date exports</a:t>
            </a:r>
            <a:endParaRPr lang="en-US" sz="1500" dirty="0"/>
          </a:p>
        </p:txBody>
      </p:sp>
      <p:sp>
        <p:nvSpPr>
          <p:cNvPr id="7" name="Text 4"/>
          <p:cNvSpPr txBox="1"/>
          <p:nvPr/>
        </p:nvSpPr>
        <p:spPr>
          <a:xfrm>
            <a:off x="777240" y="2834640"/>
            <a:ext cx="2240280" cy="45720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Converted to monthly activity</a:t>
            </a:r>
            <a:endParaRPr lang="en-US" sz="1300" dirty="0"/>
          </a:p>
        </p:txBody>
      </p:sp>
      <p:sp>
        <p:nvSpPr>
          <p:cNvPr id="8" name="trap card 2"/>
          <p:cNvSpPr/>
          <p:nvPr/>
        </p:nvSpPr>
        <p:spPr>
          <a:xfrm>
            <a:off x="3355848" y="1508760"/>
            <a:ext cx="2606040" cy="1874520"/>
          </a:xfrm>
          <a:prstGeom prst="roundRect">
            <a:avLst>
              <a:gd name="adj" fmla="val 5854"/>
            </a:avLst>
          </a:prstGeom>
          <a:solidFill>
            <a:srgbClr val="EEF4F2"/>
          </a:solidFill>
          <a:ln w="12700">
            <a:solidFill>
              <a:srgbClr val="EEF4F2"/>
            </a:solidFill>
            <a:prstDash val="solid"/>
          </a:ln>
        </p:spPr>
      </p:sp>
      <p:sp>
        <p:nvSpPr>
          <p:cNvPr id="9" name="trap 2 circle"/>
          <p:cNvSpPr/>
          <p:nvPr/>
        </p:nvSpPr>
        <p:spPr>
          <a:xfrm>
            <a:off x="3584448" y="1737360"/>
            <a:ext cx="594360" cy="594360"/>
          </a:xfrm>
          <a:prstGeom prst="ellipse">
            <a:avLst/>
          </a:prstGeom>
          <a:solidFill>
            <a:srgbClr val="3E7C74"/>
          </a:solidFill>
          <a:ln w="12700">
            <a:solidFill>
              <a:srgbClr val="3E7C74"/>
            </a:solidFill>
            <a:prstDash val="solid"/>
          </a:ln>
        </p:spPr>
      </p:sp>
      <p:pic>
        <p:nvPicPr>
          <p:cNvPr id="10" name="trap 2 icon" descr="preencoded.png">    </p:cNvPr>
          <p:cNvPicPr>
            <a:picLocks noChangeAspect="1"/>
          </p:cNvPicPr>
          <p:nvPr/>
        </p:nvPicPr>
        <p:blipFill>
          <a:blip r:embed="rId2"/>
          <a:stretch>
            <a:fillRect/>
          </a:stretch>
        </p:blipFill>
        <p:spPr>
          <a:xfrm>
            <a:off x="3733038" y="1885950"/>
            <a:ext cx="297180" cy="297180"/>
          </a:xfrm>
          <a:prstGeom prst="rect">
            <a:avLst/>
          </a:prstGeom>
        </p:spPr>
      </p:pic>
      <p:sp>
        <p:nvSpPr>
          <p:cNvPr id="11" name="Text 7"/>
          <p:cNvSpPr txBox="1"/>
          <p:nvPr/>
        </p:nvSpPr>
        <p:spPr>
          <a:xfrm>
            <a:off x="3584448" y="2423160"/>
            <a:ext cx="2194560" cy="411480"/>
          </a:xfrm>
          <a:prstGeom prst="rect">
            <a:avLst/>
          </a:prstGeom>
          <a:noFill/>
          <a:ln/>
        </p:spPr>
        <p:txBody>
          <a:bodyPr wrap="square" lIns="0" tIns="0" rIns="0" bIns="0" rtlCol="0" anchor="t"/>
          <a:lstStyle/>
          <a:p>
            <a:pPr indent="0" marL="0">
              <a:buNone/>
            </a:pPr>
            <a:r>
              <a:rPr lang="en-US" sz="1500" b="1" dirty="0">
                <a:solidFill>
                  <a:srgbClr val="0B3D3A"/>
                </a:solidFill>
                <a:latin typeface="Calibri" pitchFamily="34" charset="0"/>
                <a:ea typeface="Calibri" pitchFamily="34" charset="-122"/>
                <a:cs typeface="Calibri" pitchFamily="34" charset="-120"/>
              </a:rPr>
              <a:t>Subtotal rows</a:t>
            </a:r>
            <a:endParaRPr lang="en-US" sz="1500" dirty="0"/>
          </a:p>
        </p:txBody>
      </p:sp>
      <p:sp>
        <p:nvSpPr>
          <p:cNvPr id="12" name="Text 8"/>
          <p:cNvSpPr txBox="1"/>
          <p:nvPr/>
        </p:nvSpPr>
        <p:spPr>
          <a:xfrm>
            <a:off x="3584448" y="2834640"/>
            <a:ext cx="2240280" cy="45720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Detected and dropped before summing</a:t>
            </a:r>
            <a:endParaRPr lang="en-US" sz="1300" dirty="0"/>
          </a:p>
        </p:txBody>
      </p:sp>
      <p:sp>
        <p:nvSpPr>
          <p:cNvPr id="13" name="trap card 3"/>
          <p:cNvSpPr/>
          <p:nvPr/>
        </p:nvSpPr>
        <p:spPr>
          <a:xfrm>
            <a:off x="6163056" y="1508760"/>
            <a:ext cx="2606040" cy="1874520"/>
          </a:xfrm>
          <a:prstGeom prst="roundRect">
            <a:avLst>
              <a:gd name="adj" fmla="val 5854"/>
            </a:avLst>
          </a:prstGeom>
          <a:solidFill>
            <a:srgbClr val="EEF4F2"/>
          </a:solidFill>
          <a:ln w="12700">
            <a:solidFill>
              <a:srgbClr val="EEF4F2"/>
            </a:solidFill>
            <a:prstDash val="solid"/>
          </a:ln>
        </p:spPr>
      </p:sp>
      <p:sp>
        <p:nvSpPr>
          <p:cNvPr id="14" name="trap 3 circle"/>
          <p:cNvSpPr/>
          <p:nvPr/>
        </p:nvSpPr>
        <p:spPr>
          <a:xfrm>
            <a:off x="6391656" y="1737360"/>
            <a:ext cx="594360" cy="594360"/>
          </a:xfrm>
          <a:prstGeom prst="ellipse">
            <a:avLst/>
          </a:prstGeom>
          <a:solidFill>
            <a:srgbClr val="3E7C74"/>
          </a:solidFill>
          <a:ln w="12700">
            <a:solidFill>
              <a:srgbClr val="3E7C74"/>
            </a:solidFill>
            <a:prstDash val="solid"/>
          </a:ln>
        </p:spPr>
      </p:sp>
      <p:pic>
        <p:nvPicPr>
          <p:cNvPr id="15" name="trap 3 icon" descr="preencoded.png">    </p:cNvPr>
          <p:cNvPicPr>
            <a:picLocks noChangeAspect="1"/>
          </p:cNvPicPr>
          <p:nvPr/>
        </p:nvPicPr>
        <p:blipFill>
          <a:blip r:embed="rId3"/>
          <a:stretch>
            <a:fillRect/>
          </a:stretch>
        </p:blipFill>
        <p:spPr>
          <a:xfrm>
            <a:off x="6540246" y="1885950"/>
            <a:ext cx="297180" cy="297180"/>
          </a:xfrm>
          <a:prstGeom prst="rect">
            <a:avLst/>
          </a:prstGeom>
        </p:spPr>
      </p:pic>
      <p:sp>
        <p:nvSpPr>
          <p:cNvPr id="16" name="Text 11"/>
          <p:cNvSpPr txBox="1"/>
          <p:nvPr/>
        </p:nvSpPr>
        <p:spPr>
          <a:xfrm>
            <a:off x="6391656" y="2423160"/>
            <a:ext cx="2194560" cy="411480"/>
          </a:xfrm>
          <a:prstGeom prst="rect">
            <a:avLst/>
          </a:prstGeom>
          <a:noFill/>
          <a:ln/>
        </p:spPr>
        <p:txBody>
          <a:bodyPr wrap="square" lIns="0" tIns="0" rIns="0" bIns="0" rtlCol="0" anchor="t"/>
          <a:lstStyle/>
          <a:p>
            <a:pPr indent="0" marL="0">
              <a:buNone/>
            </a:pPr>
            <a:r>
              <a:rPr lang="en-US" sz="1500" b="1" dirty="0">
                <a:solidFill>
                  <a:srgbClr val="0B3D3A"/>
                </a:solidFill>
                <a:latin typeface="Calibri" pitchFamily="34" charset="0"/>
                <a:ea typeface="Calibri" pitchFamily="34" charset="-122"/>
                <a:cs typeface="Calibri" pitchFamily="34" charset="-120"/>
              </a:rPr>
              <a:t>Foreign-language ledgers</a:t>
            </a:r>
            <a:endParaRPr lang="en-US" sz="1500" dirty="0"/>
          </a:p>
        </p:txBody>
      </p:sp>
      <p:sp>
        <p:nvSpPr>
          <p:cNvPr id="17" name="Text 12"/>
          <p:cNvSpPr txBox="1"/>
          <p:nvPr/>
        </p:nvSpPr>
        <p:spPr>
          <a:xfrm>
            <a:off x="6391656" y="2834640"/>
            <a:ext cx="2240280" cy="45720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German, Portuguese, Spanish and more</a:t>
            </a:r>
            <a:endParaRPr lang="en-US" sz="1300" dirty="0"/>
          </a:p>
        </p:txBody>
      </p:sp>
      <p:sp>
        <p:nvSpPr>
          <p:cNvPr id="18" name="trap card 4"/>
          <p:cNvSpPr/>
          <p:nvPr/>
        </p:nvSpPr>
        <p:spPr>
          <a:xfrm>
            <a:off x="8970264" y="1508760"/>
            <a:ext cx="2606040" cy="1874520"/>
          </a:xfrm>
          <a:prstGeom prst="roundRect">
            <a:avLst>
              <a:gd name="adj" fmla="val 5854"/>
            </a:avLst>
          </a:prstGeom>
          <a:solidFill>
            <a:srgbClr val="EEF4F2"/>
          </a:solidFill>
          <a:ln w="12700">
            <a:solidFill>
              <a:srgbClr val="EEF4F2"/>
            </a:solidFill>
            <a:prstDash val="solid"/>
          </a:ln>
        </p:spPr>
      </p:sp>
      <p:sp>
        <p:nvSpPr>
          <p:cNvPr id="19" name="trap 4 circle"/>
          <p:cNvSpPr/>
          <p:nvPr/>
        </p:nvSpPr>
        <p:spPr>
          <a:xfrm>
            <a:off x="9198864" y="1737360"/>
            <a:ext cx="594360" cy="594360"/>
          </a:xfrm>
          <a:prstGeom prst="ellipse">
            <a:avLst/>
          </a:prstGeom>
          <a:solidFill>
            <a:srgbClr val="3E7C74"/>
          </a:solidFill>
          <a:ln w="12700">
            <a:solidFill>
              <a:srgbClr val="3E7C74"/>
            </a:solidFill>
            <a:prstDash val="solid"/>
          </a:ln>
        </p:spPr>
      </p:sp>
      <p:pic>
        <p:nvPicPr>
          <p:cNvPr id="20" name="trap 4 icon" descr="preencoded.png">    </p:cNvPr>
          <p:cNvPicPr>
            <a:picLocks noChangeAspect="1"/>
          </p:cNvPicPr>
          <p:nvPr/>
        </p:nvPicPr>
        <p:blipFill>
          <a:blip r:embed="rId4"/>
          <a:stretch>
            <a:fillRect/>
          </a:stretch>
        </p:blipFill>
        <p:spPr>
          <a:xfrm>
            <a:off x="9347454" y="1885950"/>
            <a:ext cx="297180" cy="297180"/>
          </a:xfrm>
          <a:prstGeom prst="rect">
            <a:avLst/>
          </a:prstGeom>
        </p:spPr>
      </p:pic>
      <p:sp>
        <p:nvSpPr>
          <p:cNvPr id="21" name="Text 15"/>
          <p:cNvSpPr txBox="1"/>
          <p:nvPr/>
        </p:nvSpPr>
        <p:spPr>
          <a:xfrm>
            <a:off x="9198864" y="2423160"/>
            <a:ext cx="2194560" cy="411480"/>
          </a:xfrm>
          <a:prstGeom prst="rect">
            <a:avLst/>
          </a:prstGeom>
          <a:noFill/>
          <a:ln/>
        </p:spPr>
        <p:txBody>
          <a:bodyPr wrap="square" lIns="0" tIns="0" rIns="0" bIns="0" rtlCol="0" anchor="t"/>
          <a:lstStyle/>
          <a:p>
            <a:pPr indent="0" marL="0">
              <a:buNone/>
            </a:pPr>
            <a:r>
              <a:rPr lang="en-US" sz="1500" b="1" dirty="0">
                <a:solidFill>
                  <a:srgbClr val="0B3D3A"/>
                </a:solidFill>
                <a:latin typeface="Calibri" pitchFamily="34" charset="0"/>
                <a:ea typeface="Calibri" pitchFamily="34" charset="-122"/>
                <a:cs typeface="Calibri" pitchFamily="34" charset="-120"/>
              </a:rPr>
              <a:t>Mixed date formats</a:t>
            </a:r>
            <a:endParaRPr lang="en-US" sz="1500" dirty="0"/>
          </a:p>
        </p:txBody>
      </p:sp>
      <p:sp>
        <p:nvSpPr>
          <p:cNvPr id="22" name="Text 16"/>
          <p:cNvSpPr txBox="1"/>
          <p:nvPr/>
        </p:nvSpPr>
        <p:spPr>
          <a:xfrm>
            <a:off x="9198864" y="2834640"/>
            <a:ext cx="2240280" cy="45720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MM/DD vs DD/MM proven per entity</a:t>
            </a:r>
            <a:endParaRPr lang="en-US" sz="1300" dirty="0"/>
          </a:p>
        </p:txBody>
      </p:sp>
      <p:sp>
        <p:nvSpPr>
          <p:cNvPr id="23" name="trap card 5"/>
          <p:cNvSpPr/>
          <p:nvPr/>
        </p:nvSpPr>
        <p:spPr>
          <a:xfrm>
            <a:off x="548640" y="3611880"/>
            <a:ext cx="2606040" cy="1874520"/>
          </a:xfrm>
          <a:prstGeom prst="roundRect">
            <a:avLst>
              <a:gd name="adj" fmla="val 5854"/>
            </a:avLst>
          </a:prstGeom>
          <a:solidFill>
            <a:srgbClr val="EEF4F2"/>
          </a:solidFill>
          <a:ln w="12700">
            <a:solidFill>
              <a:srgbClr val="EEF4F2"/>
            </a:solidFill>
            <a:prstDash val="solid"/>
          </a:ln>
        </p:spPr>
      </p:sp>
      <p:sp>
        <p:nvSpPr>
          <p:cNvPr id="24" name="trap 5 circle"/>
          <p:cNvSpPr/>
          <p:nvPr/>
        </p:nvSpPr>
        <p:spPr>
          <a:xfrm>
            <a:off x="777240" y="3840480"/>
            <a:ext cx="594360" cy="594360"/>
          </a:xfrm>
          <a:prstGeom prst="ellipse">
            <a:avLst/>
          </a:prstGeom>
          <a:solidFill>
            <a:srgbClr val="3E7C74"/>
          </a:solidFill>
          <a:ln w="12700">
            <a:solidFill>
              <a:srgbClr val="3E7C74"/>
            </a:solidFill>
            <a:prstDash val="solid"/>
          </a:ln>
        </p:spPr>
      </p:sp>
      <p:pic>
        <p:nvPicPr>
          <p:cNvPr id="25" name="trap 5 icon" descr="preencoded.png">    </p:cNvPr>
          <p:cNvPicPr>
            <a:picLocks noChangeAspect="1"/>
          </p:cNvPicPr>
          <p:nvPr/>
        </p:nvPicPr>
        <p:blipFill>
          <a:blip r:embed="rId5"/>
          <a:stretch>
            <a:fillRect/>
          </a:stretch>
        </p:blipFill>
        <p:spPr>
          <a:xfrm>
            <a:off x="925830" y="3989070"/>
            <a:ext cx="297180" cy="297180"/>
          </a:xfrm>
          <a:prstGeom prst="rect">
            <a:avLst/>
          </a:prstGeom>
        </p:spPr>
      </p:pic>
      <p:sp>
        <p:nvSpPr>
          <p:cNvPr id="26" name="Text 19"/>
          <p:cNvSpPr txBox="1"/>
          <p:nvPr/>
        </p:nvSpPr>
        <p:spPr>
          <a:xfrm>
            <a:off x="777240" y="4526280"/>
            <a:ext cx="2194560" cy="411480"/>
          </a:xfrm>
          <a:prstGeom prst="rect">
            <a:avLst/>
          </a:prstGeom>
          <a:noFill/>
          <a:ln/>
        </p:spPr>
        <p:txBody>
          <a:bodyPr wrap="square" lIns="0" tIns="0" rIns="0" bIns="0" rtlCol="0" anchor="t"/>
          <a:lstStyle/>
          <a:p>
            <a:pPr indent="0" marL="0">
              <a:buNone/>
            </a:pPr>
            <a:r>
              <a:rPr lang="en-US" sz="1500" b="1" dirty="0">
                <a:solidFill>
                  <a:srgbClr val="0B3D3A"/>
                </a:solidFill>
                <a:latin typeface="Calibri" pitchFamily="34" charset="0"/>
                <a:ea typeface="Calibri" pitchFamily="34" charset="-122"/>
                <a:cs typeface="Calibri" pitchFamily="34" charset="-120"/>
              </a:rPr>
              <a:t>Unit scale</a:t>
            </a:r>
            <a:endParaRPr lang="en-US" sz="1500" dirty="0"/>
          </a:p>
        </p:txBody>
      </p:sp>
      <p:sp>
        <p:nvSpPr>
          <p:cNvPr id="27" name="Text 20"/>
          <p:cNvSpPr txBox="1"/>
          <p:nvPr/>
        </p:nvSpPr>
        <p:spPr>
          <a:xfrm>
            <a:off x="777240" y="4937760"/>
            <a:ext cx="2240280" cy="45720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Thousands, millions, lakhs, crores</a:t>
            </a:r>
            <a:endParaRPr lang="en-US" sz="1300" dirty="0"/>
          </a:p>
        </p:txBody>
      </p:sp>
      <p:sp>
        <p:nvSpPr>
          <p:cNvPr id="28" name="trap card 6"/>
          <p:cNvSpPr/>
          <p:nvPr/>
        </p:nvSpPr>
        <p:spPr>
          <a:xfrm>
            <a:off x="3355848" y="3611880"/>
            <a:ext cx="2606040" cy="1874520"/>
          </a:xfrm>
          <a:prstGeom prst="roundRect">
            <a:avLst>
              <a:gd name="adj" fmla="val 5854"/>
            </a:avLst>
          </a:prstGeom>
          <a:solidFill>
            <a:srgbClr val="EEF4F2"/>
          </a:solidFill>
          <a:ln w="12700">
            <a:solidFill>
              <a:srgbClr val="EEF4F2"/>
            </a:solidFill>
            <a:prstDash val="solid"/>
          </a:ln>
        </p:spPr>
      </p:sp>
      <p:sp>
        <p:nvSpPr>
          <p:cNvPr id="29" name="trap 6 circle"/>
          <p:cNvSpPr/>
          <p:nvPr/>
        </p:nvSpPr>
        <p:spPr>
          <a:xfrm>
            <a:off x="3584448" y="3840480"/>
            <a:ext cx="594360" cy="594360"/>
          </a:xfrm>
          <a:prstGeom prst="ellipse">
            <a:avLst/>
          </a:prstGeom>
          <a:solidFill>
            <a:srgbClr val="3E7C74"/>
          </a:solidFill>
          <a:ln w="12700">
            <a:solidFill>
              <a:srgbClr val="3E7C74"/>
            </a:solidFill>
            <a:prstDash val="solid"/>
          </a:ln>
        </p:spPr>
      </p:sp>
      <p:pic>
        <p:nvPicPr>
          <p:cNvPr id="30" name="trap 6 icon" descr="preencoded.png">    </p:cNvPr>
          <p:cNvPicPr>
            <a:picLocks noChangeAspect="1"/>
          </p:cNvPicPr>
          <p:nvPr/>
        </p:nvPicPr>
        <p:blipFill>
          <a:blip r:embed="rId6"/>
          <a:stretch>
            <a:fillRect/>
          </a:stretch>
        </p:blipFill>
        <p:spPr>
          <a:xfrm>
            <a:off x="3733038" y="3989070"/>
            <a:ext cx="297180" cy="297180"/>
          </a:xfrm>
          <a:prstGeom prst="rect">
            <a:avLst/>
          </a:prstGeom>
        </p:spPr>
      </p:pic>
      <p:sp>
        <p:nvSpPr>
          <p:cNvPr id="31" name="Text 23"/>
          <p:cNvSpPr txBox="1"/>
          <p:nvPr/>
        </p:nvSpPr>
        <p:spPr>
          <a:xfrm>
            <a:off x="3584448" y="4526280"/>
            <a:ext cx="2194560" cy="411480"/>
          </a:xfrm>
          <a:prstGeom prst="rect">
            <a:avLst/>
          </a:prstGeom>
          <a:noFill/>
          <a:ln/>
        </p:spPr>
        <p:txBody>
          <a:bodyPr wrap="square" lIns="0" tIns="0" rIns="0" bIns="0" rtlCol="0" anchor="t"/>
          <a:lstStyle/>
          <a:p>
            <a:pPr indent="0" marL="0">
              <a:buNone/>
            </a:pPr>
            <a:r>
              <a:rPr lang="en-US" sz="1500" b="1" dirty="0">
                <a:solidFill>
                  <a:srgbClr val="0B3D3A"/>
                </a:solidFill>
                <a:latin typeface="Calibri" pitchFamily="34" charset="0"/>
                <a:ea typeface="Calibri" pitchFamily="34" charset="-122"/>
                <a:cs typeface="Calibri" pitchFamily="34" charset="-120"/>
              </a:rPr>
              <a:t>Hidden &amp; duplicate tabs</a:t>
            </a:r>
            <a:endParaRPr lang="en-US" sz="1500" dirty="0"/>
          </a:p>
        </p:txBody>
      </p:sp>
      <p:sp>
        <p:nvSpPr>
          <p:cNvPr id="32" name="Text 24"/>
          <p:cNvSpPr txBox="1"/>
          <p:nvPr/>
        </p:nvSpPr>
        <p:spPr>
          <a:xfrm>
            <a:off x="3584448" y="4937760"/>
            <a:ext cx="2240280" cy="45720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Excluded so nothing is double-counted</a:t>
            </a:r>
            <a:endParaRPr lang="en-US" sz="1300" dirty="0"/>
          </a:p>
        </p:txBody>
      </p:sp>
      <p:sp>
        <p:nvSpPr>
          <p:cNvPr id="33" name="trap card 7"/>
          <p:cNvSpPr/>
          <p:nvPr/>
        </p:nvSpPr>
        <p:spPr>
          <a:xfrm>
            <a:off x="6163056" y="3611880"/>
            <a:ext cx="2606040" cy="1874520"/>
          </a:xfrm>
          <a:prstGeom prst="roundRect">
            <a:avLst>
              <a:gd name="adj" fmla="val 5854"/>
            </a:avLst>
          </a:prstGeom>
          <a:solidFill>
            <a:srgbClr val="EEF4F2"/>
          </a:solidFill>
          <a:ln w="12700">
            <a:solidFill>
              <a:srgbClr val="EEF4F2"/>
            </a:solidFill>
            <a:prstDash val="solid"/>
          </a:ln>
        </p:spPr>
      </p:sp>
      <p:sp>
        <p:nvSpPr>
          <p:cNvPr id="34" name="trap 7 circle"/>
          <p:cNvSpPr/>
          <p:nvPr/>
        </p:nvSpPr>
        <p:spPr>
          <a:xfrm>
            <a:off x="6391656" y="3840480"/>
            <a:ext cx="594360" cy="594360"/>
          </a:xfrm>
          <a:prstGeom prst="ellipse">
            <a:avLst/>
          </a:prstGeom>
          <a:solidFill>
            <a:srgbClr val="3E7C74"/>
          </a:solidFill>
          <a:ln w="12700">
            <a:solidFill>
              <a:srgbClr val="3E7C74"/>
            </a:solidFill>
            <a:prstDash val="solid"/>
          </a:ln>
        </p:spPr>
      </p:sp>
      <p:pic>
        <p:nvPicPr>
          <p:cNvPr id="35" name="trap 7 icon" descr="preencoded.png">    </p:cNvPr>
          <p:cNvPicPr>
            <a:picLocks noChangeAspect="1"/>
          </p:cNvPicPr>
          <p:nvPr/>
        </p:nvPicPr>
        <p:blipFill>
          <a:blip r:embed="rId7"/>
          <a:stretch>
            <a:fillRect/>
          </a:stretch>
        </p:blipFill>
        <p:spPr>
          <a:xfrm>
            <a:off x="6540246" y="3989070"/>
            <a:ext cx="297180" cy="297180"/>
          </a:xfrm>
          <a:prstGeom prst="rect">
            <a:avLst/>
          </a:prstGeom>
        </p:spPr>
      </p:pic>
      <p:sp>
        <p:nvSpPr>
          <p:cNvPr id="36" name="Text 27"/>
          <p:cNvSpPr txBox="1"/>
          <p:nvPr/>
        </p:nvSpPr>
        <p:spPr>
          <a:xfrm>
            <a:off x="6391656" y="4526280"/>
            <a:ext cx="2194560" cy="411480"/>
          </a:xfrm>
          <a:prstGeom prst="rect">
            <a:avLst/>
          </a:prstGeom>
          <a:noFill/>
          <a:ln/>
        </p:spPr>
        <p:txBody>
          <a:bodyPr wrap="square" lIns="0" tIns="0" rIns="0" bIns="0" rtlCol="0" anchor="t"/>
          <a:lstStyle/>
          <a:p>
            <a:pPr indent="0" marL="0">
              <a:buNone/>
            </a:pPr>
            <a:r>
              <a:rPr lang="en-US" sz="1500" b="1" dirty="0">
                <a:solidFill>
                  <a:srgbClr val="0B3D3A"/>
                </a:solidFill>
                <a:latin typeface="Calibri" pitchFamily="34" charset="0"/>
                <a:ea typeface="Calibri" pitchFamily="34" charset="-122"/>
                <a:cs typeface="Calibri" pitchFamily="34" charset="-120"/>
              </a:rPr>
              <a:t>Period 13 &amp; forecasts</a:t>
            </a:r>
            <a:endParaRPr lang="en-US" sz="1500" dirty="0"/>
          </a:p>
        </p:txBody>
      </p:sp>
      <p:sp>
        <p:nvSpPr>
          <p:cNvPr id="37" name="Text 28"/>
          <p:cNvSpPr txBox="1"/>
          <p:nvPr/>
        </p:nvSpPr>
        <p:spPr>
          <a:xfrm>
            <a:off x="6391656" y="4937760"/>
            <a:ext cx="2240280" cy="45720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Folded in or excluded, and logged</a:t>
            </a:r>
            <a:endParaRPr lang="en-US" sz="1300" dirty="0"/>
          </a:p>
        </p:txBody>
      </p:sp>
      <p:sp>
        <p:nvSpPr>
          <p:cNvPr id="38" name="trap card 8"/>
          <p:cNvSpPr/>
          <p:nvPr/>
        </p:nvSpPr>
        <p:spPr>
          <a:xfrm>
            <a:off x="8970264" y="3611880"/>
            <a:ext cx="2606040" cy="1874520"/>
          </a:xfrm>
          <a:prstGeom prst="roundRect">
            <a:avLst>
              <a:gd name="adj" fmla="val 5854"/>
            </a:avLst>
          </a:prstGeom>
          <a:solidFill>
            <a:srgbClr val="EEF4F2"/>
          </a:solidFill>
          <a:ln w="12700">
            <a:solidFill>
              <a:srgbClr val="EEF4F2"/>
            </a:solidFill>
            <a:prstDash val="solid"/>
          </a:ln>
        </p:spPr>
      </p:sp>
      <p:sp>
        <p:nvSpPr>
          <p:cNvPr id="39" name="trap 8 circle"/>
          <p:cNvSpPr/>
          <p:nvPr/>
        </p:nvSpPr>
        <p:spPr>
          <a:xfrm>
            <a:off x="9198864" y="3840480"/>
            <a:ext cx="594360" cy="594360"/>
          </a:xfrm>
          <a:prstGeom prst="ellipse">
            <a:avLst/>
          </a:prstGeom>
          <a:solidFill>
            <a:srgbClr val="3E7C74"/>
          </a:solidFill>
          <a:ln w="12700">
            <a:solidFill>
              <a:srgbClr val="3E7C74"/>
            </a:solidFill>
            <a:prstDash val="solid"/>
          </a:ln>
        </p:spPr>
      </p:sp>
      <p:pic>
        <p:nvPicPr>
          <p:cNvPr id="40" name="trap 8 icon" descr="preencoded.png">    </p:cNvPr>
          <p:cNvPicPr>
            <a:picLocks noChangeAspect="1"/>
          </p:cNvPicPr>
          <p:nvPr/>
        </p:nvPicPr>
        <p:blipFill>
          <a:blip r:embed="rId8"/>
          <a:stretch>
            <a:fillRect/>
          </a:stretch>
        </p:blipFill>
        <p:spPr>
          <a:xfrm>
            <a:off x="9347454" y="3989070"/>
            <a:ext cx="297180" cy="297180"/>
          </a:xfrm>
          <a:prstGeom prst="rect">
            <a:avLst/>
          </a:prstGeom>
        </p:spPr>
      </p:pic>
      <p:sp>
        <p:nvSpPr>
          <p:cNvPr id="41" name="Text 31"/>
          <p:cNvSpPr txBox="1"/>
          <p:nvPr/>
        </p:nvSpPr>
        <p:spPr>
          <a:xfrm>
            <a:off x="9198864" y="4526280"/>
            <a:ext cx="2194560" cy="411480"/>
          </a:xfrm>
          <a:prstGeom prst="rect">
            <a:avLst/>
          </a:prstGeom>
          <a:noFill/>
          <a:ln/>
        </p:spPr>
        <p:txBody>
          <a:bodyPr wrap="square" lIns="0" tIns="0" rIns="0" bIns="0" rtlCol="0" anchor="t"/>
          <a:lstStyle/>
          <a:p>
            <a:pPr indent="0" marL="0">
              <a:buNone/>
            </a:pPr>
            <a:r>
              <a:rPr lang="en-US" sz="1500" b="1" dirty="0">
                <a:solidFill>
                  <a:srgbClr val="0B3D3A"/>
                </a:solidFill>
                <a:latin typeface="Calibri" pitchFamily="34" charset="0"/>
                <a:ea typeface="Calibri" pitchFamily="34" charset="-122"/>
                <a:cs typeface="Calibri" pitchFamily="34" charset="-120"/>
              </a:rPr>
              <a:t>Signed amounts</a:t>
            </a:r>
            <a:endParaRPr lang="en-US" sz="1500" dirty="0"/>
          </a:p>
        </p:txBody>
      </p:sp>
      <p:sp>
        <p:nvSpPr>
          <p:cNvPr id="42" name="Text 32"/>
          <p:cNvSpPr txBox="1"/>
          <p:nvPr/>
        </p:nvSpPr>
        <p:spPr>
          <a:xfrm>
            <a:off x="9198864" y="4937760"/>
            <a:ext cx="2240280" cy="45720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Sign conventions and account changes normalized</a:t>
            </a:r>
            <a:endParaRPr lang="en-US" sz="1300" dirty="0"/>
          </a:p>
        </p:txBody>
      </p:sp>
      <p:sp>
        <p:nvSpPr>
          <p:cNvPr id="43" name="Text 33"/>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400" i="1" dirty="0">
                <a:solidFill>
                  <a:srgbClr val="3E7C74"/>
                </a:solidFill>
                <a:latin typeface="Calibri" pitchFamily="34" charset="0"/>
                <a:ea typeface="Calibri" pitchFamily="34" charset="-122"/>
                <a:cs typeface="Calibri" pitchFamily="34" charset="-120"/>
              </a:rPr>
              <a:t>Every fix is re-tested: trial balances must balance after normalization, or the item is raised for review.</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0B3D3A"/>
                </a:solidFill>
                <a:latin typeface="Cambria" pitchFamily="34" charset="0"/>
                <a:ea typeface="Cambria" pitchFamily="34" charset="-122"/>
                <a:cs typeface="Cambria" pitchFamily="34" charset="-120"/>
              </a:rPr>
              <a:t>It surfaces the matters auditors are required to consider</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743200"/>
                <a:gridCol w="6035040"/>
                <a:gridCol w="228600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Matter</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0B3D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agent finds</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0B3D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Related standard</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0B3D3A"/>
                    </a:solidFill>
                  </a:tcPr>
                </a:tc>
              </a:tr>
              <a:tr h="566928">
                <a:tc>
                  <a:txBody>
                    <a:bodyPr/>
                    <a:lstStyle/>
                    <a:p>
                      <a:pPr indent="0" marL="0">
                        <a:buNone/>
                      </a:pPr>
                      <a:r>
                        <a:rPr lang="en-US" sz="1400" b="1" dirty="0">
                          <a:solidFill>
                            <a:srgbClr val="0B3D3A"/>
                          </a:solidFill>
                          <a:latin typeface="Calibri" pitchFamily="34" charset="0"/>
                          <a:ea typeface="Calibri" pitchFamily="34" charset="-122"/>
                          <a:cs typeface="Calibri" pitchFamily="34" charset="-120"/>
                        </a:rPr>
                        <a:t>Going-concern indicators</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c>
                  <a:txBody>
                    <a:bodyPr/>
                    <a:lstStyle/>
                    <a:p>
                      <a:pPr indent="0" marL="0">
                        <a:buNone/>
                      </a:pPr>
                      <a:r>
                        <a:rPr lang="en-US" sz="1400" dirty="0">
                          <a:solidFill>
                            <a:srgbClr val="1F2A2E"/>
                          </a:solidFill>
                          <a:latin typeface="Calibri" pitchFamily="34" charset="0"/>
                          <a:ea typeface="Calibri" pitchFamily="34" charset="-122"/>
                          <a:cs typeface="Calibri" pitchFamily="34" charset="-120"/>
                        </a:rPr>
                        <a:t>Debt maturities, covenant headroom recomputed from the facility definition, runway on unrestricted cash</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c>
                  <a:txBody>
                    <a:bodyPr/>
                    <a:lstStyle/>
                    <a:p>
                      <a:pPr indent="0" marL="0">
                        <a:buNone/>
                      </a:pPr>
                      <a:r>
                        <a:rPr lang="en-US" sz="1400" dirty="0">
                          <a:solidFill>
                            <a:srgbClr val="1F2A2E"/>
                          </a:solidFill>
                          <a:latin typeface="Calibri" pitchFamily="34" charset="0"/>
                          <a:ea typeface="Calibri" pitchFamily="34" charset="-122"/>
                          <a:cs typeface="Calibri" pitchFamily="34" charset="-120"/>
                        </a:rPr>
                        <a:t>ISA 570 / AU-C 570</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r>
              <a:tr h="566928">
                <a:tc>
                  <a:txBody>
                    <a:bodyPr/>
                    <a:lstStyle/>
                    <a:p>
                      <a:pPr indent="0" marL="0">
                        <a:buNone/>
                      </a:pPr>
                      <a:r>
                        <a:rPr lang="en-US" sz="1400" b="1" dirty="0">
                          <a:solidFill>
                            <a:srgbClr val="0B3D3A"/>
                          </a:solidFill>
                          <a:latin typeface="Calibri" pitchFamily="34" charset="0"/>
                          <a:ea typeface="Calibri" pitchFamily="34" charset="-122"/>
                          <a:cs typeface="Calibri" pitchFamily="34" charset="-120"/>
                        </a:rPr>
                        <a:t>Related parties</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A2E"/>
                          </a:solidFill>
                          <a:latin typeface="Calibri" pitchFamily="34" charset="0"/>
                          <a:ea typeface="Calibri" pitchFamily="34" charset="-122"/>
                          <a:cs typeface="Calibri" pitchFamily="34" charset="-120"/>
                        </a:rPr>
                        <a:t>Related-party counterparties flagged in client data for disclosure</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A2E"/>
                          </a:solidFill>
                          <a:latin typeface="Calibri" pitchFamily="34" charset="0"/>
                          <a:ea typeface="Calibri" pitchFamily="34" charset="-122"/>
                          <a:cs typeface="Calibri" pitchFamily="34" charset="-120"/>
                        </a:rPr>
                        <a:t>ISA 550 / AU-C 550</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0B3D3A"/>
                          </a:solidFill>
                          <a:latin typeface="Calibri" pitchFamily="34" charset="0"/>
                          <a:ea typeface="Calibri" pitchFamily="34" charset="-122"/>
                          <a:cs typeface="Calibri" pitchFamily="34" charset="-120"/>
                        </a:rPr>
                        <a:t>Revenue recognition risk</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c>
                  <a:txBody>
                    <a:bodyPr/>
                    <a:lstStyle/>
                    <a:p>
                      <a:pPr indent="0" marL="0">
                        <a:buNone/>
                      </a:pPr>
                      <a:r>
                        <a:rPr lang="en-US" sz="1400" dirty="0">
                          <a:solidFill>
                            <a:srgbClr val="1F2A2E"/>
                          </a:solidFill>
                          <a:latin typeface="Calibri" pitchFamily="34" charset="0"/>
                          <a:ea typeface="Calibri" pitchFamily="34" charset="-122"/>
                          <a:cs typeface="Calibri" pitchFamily="34" charset="-120"/>
                        </a:rPr>
                        <a:t>Period-end spikes, receivables jumps, bill-and-hold and cutoff signals</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c>
                  <a:txBody>
                    <a:bodyPr/>
                    <a:lstStyle/>
                    <a:p>
                      <a:pPr indent="0" marL="0">
                        <a:buNone/>
                      </a:pPr>
                      <a:r>
                        <a:rPr lang="en-US" sz="1400" dirty="0">
                          <a:solidFill>
                            <a:srgbClr val="1F2A2E"/>
                          </a:solidFill>
                          <a:latin typeface="Calibri" pitchFamily="34" charset="0"/>
                          <a:ea typeface="Calibri" pitchFamily="34" charset="-122"/>
                          <a:cs typeface="Calibri" pitchFamily="34" charset="-120"/>
                        </a:rPr>
                        <a:t>ISA 240 / AU-C 240</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r>
              <a:tr h="566928">
                <a:tc>
                  <a:txBody>
                    <a:bodyPr/>
                    <a:lstStyle/>
                    <a:p>
                      <a:pPr indent="0" marL="0">
                        <a:buNone/>
                      </a:pPr>
                      <a:r>
                        <a:rPr lang="en-US" sz="1400" b="1" dirty="0">
                          <a:solidFill>
                            <a:srgbClr val="0B3D3A"/>
                          </a:solidFill>
                          <a:latin typeface="Calibri" pitchFamily="34" charset="0"/>
                          <a:ea typeface="Calibri" pitchFamily="34" charset="-122"/>
                          <a:cs typeface="Calibri" pitchFamily="34" charset="-120"/>
                        </a:rPr>
                        <a:t>Estimates &amp; earnings quality</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A2E"/>
                          </a:solidFill>
                          <a:latin typeface="Calibri" pitchFamily="34" charset="0"/>
                          <a:ea typeface="Calibri" pitchFamily="34" charset="-122"/>
                          <a:cs typeface="Calibri" pitchFamily="34" charset="-120"/>
                        </a:rPr>
                        <a:t>Provision releases, capitalization shifts, 'one-time' items that recur</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A2E"/>
                          </a:solidFill>
                          <a:latin typeface="Calibri" pitchFamily="34" charset="0"/>
                          <a:ea typeface="Calibri" pitchFamily="34" charset="-122"/>
                          <a:cs typeface="Calibri" pitchFamily="34" charset="-120"/>
                        </a:rPr>
                        <a:t>ISA 540 / AU-C 540</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0B3D3A"/>
                          </a:solidFill>
                          <a:latin typeface="Calibri" pitchFamily="34" charset="0"/>
                          <a:ea typeface="Calibri" pitchFamily="34" charset="-122"/>
                          <a:cs typeface="Calibri" pitchFamily="34" charset="-120"/>
                        </a:rPr>
                        <a:t>Analytical procedures</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c>
                  <a:txBody>
                    <a:bodyPr/>
                    <a:lstStyle/>
                    <a:p>
                      <a:pPr indent="0" marL="0">
                        <a:buNone/>
                      </a:pPr>
                      <a:r>
                        <a:rPr lang="en-US" sz="1400" dirty="0">
                          <a:solidFill>
                            <a:srgbClr val="1F2A2E"/>
                          </a:solidFill>
                          <a:latin typeface="Calibri" pitchFamily="34" charset="0"/>
                          <a:ea typeface="Calibri" pitchFamily="34" charset="-122"/>
                          <a:cs typeface="Calibri" pitchFamily="34" charset="-120"/>
                        </a:rPr>
                        <a:t>Budget, trend and threshold variances with driver-based explanations</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c>
                  <a:txBody>
                    <a:bodyPr/>
                    <a:lstStyle/>
                    <a:p>
                      <a:pPr indent="0" marL="0">
                        <a:buNone/>
                      </a:pPr>
                      <a:r>
                        <a:rPr lang="en-US" sz="1400" dirty="0">
                          <a:solidFill>
                            <a:srgbClr val="1F2A2E"/>
                          </a:solidFill>
                          <a:latin typeface="Calibri" pitchFamily="34" charset="0"/>
                          <a:ea typeface="Calibri" pitchFamily="34" charset="-122"/>
                          <a:cs typeface="Calibri" pitchFamily="34" charset="-120"/>
                        </a:rPr>
                        <a:t>ISA 520 / AU-C 520</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r>
              <a:tr h="566928">
                <a:tc>
                  <a:txBody>
                    <a:bodyPr/>
                    <a:lstStyle/>
                    <a:p>
                      <a:pPr indent="0" marL="0">
                        <a:buNone/>
                      </a:pPr>
                      <a:r>
                        <a:rPr lang="en-US" sz="1400" b="1" dirty="0">
                          <a:solidFill>
                            <a:srgbClr val="0B3D3A"/>
                          </a:solidFill>
                          <a:latin typeface="Calibri" pitchFamily="34" charset="0"/>
                          <a:ea typeface="Calibri" pitchFamily="34" charset="-122"/>
                          <a:cs typeface="Calibri" pitchFamily="34" charset="-120"/>
                        </a:rPr>
                        <a:t>Group &amp; currency matters</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A2E"/>
                          </a:solidFill>
                          <a:latin typeface="Calibri" pitchFamily="34" charset="0"/>
                          <a:ea typeface="Calibri" pitchFamily="34" charset="-122"/>
                          <a:cs typeface="Calibri" pitchFamily="34" charset="-120"/>
                        </a:rPr>
                        <a:t>NCI, equity method, acquisitions, disposals, hyperinflation, trapped cash, intercompany</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c>
                  <a:txBody>
                    <a:bodyPr/>
                    <a:lstStyle/>
                    <a:p>
                      <a:pPr indent="0" marL="0">
                        <a:buNone/>
                      </a:pPr>
                      <a:r>
                        <a:rPr lang="en-US" sz="1400" dirty="0">
                          <a:solidFill>
                            <a:srgbClr val="1F2A2E"/>
                          </a:solidFill>
                          <a:latin typeface="Calibri" pitchFamily="34" charset="0"/>
                          <a:ea typeface="Calibri" pitchFamily="34" charset="-122"/>
                          <a:cs typeface="Calibri" pitchFamily="34" charset="-120"/>
                        </a:rPr>
                        <a:t>ISA 600 / AU-C 600</a:t>
                      </a:r>
                      <a:endParaRPr lang="en-US" sz="14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64240" cy="457200"/>
          </a:xfrm>
          <a:prstGeom prst="rect">
            <a:avLst/>
          </a:prstGeom>
          <a:noFill/>
          <a:ln/>
        </p:spPr>
        <p:txBody>
          <a:bodyPr wrap="square" lIns="0" tIns="0" rIns="0" bIns="0" rtlCol="0" anchor="t"/>
          <a:lstStyle/>
          <a:p>
            <a:pPr indent="0" marL="0">
              <a:buNone/>
            </a:pPr>
            <a:r>
              <a:rPr lang="en-US" sz="1300" i="1" dirty="0">
                <a:solidFill>
                  <a:srgbClr val="5E6E73"/>
                </a:solidFill>
                <a:latin typeface="Calibri" pitchFamily="34" charset="0"/>
                <a:ea typeface="Calibri" pitchFamily="34" charset="-122"/>
                <a:cs typeface="Calibri" pitchFamily="34" charset="-120"/>
              </a:rPr>
              <a:t>The agent supports the engagement team's work; it does not form conclusions. Every indicator is listed factually for professional judgment.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0B3D3A"/>
                </a:solidFill>
                <a:latin typeface="Cambria" pitchFamily="34" charset="0"/>
                <a:ea typeface="Cambria" pitchFamily="34" charset="-122"/>
                <a:cs typeface="Cambria" pitchFamily="34" charset="-120"/>
              </a:rPr>
              <a:t>Proven on a deliberately difficult test group</a:t>
            </a:r>
            <a:endParaRPr lang="en-US" sz="3200" dirty="0"/>
          </a:p>
        </p:txBody>
      </p:sp>
      <p:sp>
        <p:nvSpPr>
          <p:cNvPr id="3" name="Text 1"/>
          <p:cNvSpPr txBox="1"/>
          <p:nvPr/>
        </p:nvSpPr>
        <p:spPr>
          <a:xfrm>
            <a:off x="548640" y="1188720"/>
            <a:ext cx="10972800" cy="365760"/>
          </a:xfrm>
          <a:prstGeom prst="rect">
            <a:avLst/>
          </a:prstGeom>
          <a:noFill/>
          <a:ln/>
        </p:spPr>
        <p:txBody>
          <a:bodyPr wrap="square" lIns="0" tIns="0" rIns="0" bIns="0" rtlCol="0" anchor="t"/>
          <a:lstStyle/>
          <a:p>
            <a:pPr indent="0" marL="0">
              <a:buNone/>
            </a:pPr>
            <a:r>
              <a:rPr lang="en-US" sz="1500" i="1" dirty="0">
                <a:solidFill>
                  <a:srgbClr val="5E6E73"/>
                </a:solidFill>
                <a:latin typeface="Calibri" pitchFamily="34" charset="0"/>
                <a:ea typeface="Calibri" pitchFamily="34" charset="-122"/>
                <a:cs typeface="Calibri" pitchFamily="34" charset="-120"/>
              </a:rPr>
              <a:t>Synthetic stress-test dataset with a hidden answer key, run blind (the agent never saw the key)</a:t>
            </a:r>
            <a:endParaRPr lang="en-US" sz="1500" dirty="0"/>
          </a:p>
        </p:txBody>
      </p:sp>
      <p:sp>
        <p:nvSpPr>
          <p:cNvPr id="4" name="Text 2"/>
          <p:cNvSpPr txBox="1"/>
          <p:nvPr/>
        </p:nvSpPr>
        <p:spPr>
          <a:xfrm>
            <a:off x="548640" y="1828800"/>
            <a:ext cx="1371600" cy="822960"/>
          </a:xfrm>
          <a:prstGeom prst="rect">
            <a:avLst/>
          </a:prstGeom>
          <a:noFill/>
          <a:ln/>
        </p:spPr>
        <p:txBody>
          <a:bodyPr wrap="square" lIns="0" tIns="0" rIns="0" bIns="0" rtlCol="0" anchor="t"/>
          <a:lstStyle/>
          <a:p>
            <a:pPr indent="0" marL="0">
              <a:buNone/>
            </a:pPr>
            <a:r>
              <a:rPr lang="en-US" sz="5400" b="1" dirty="0">
                <a:solidFill>
                  <a:srgbClr val="0B3D3A"/>
                </a:solidFill>
                <a:latin typeface="Cambria" pitchFamily="34" charset="0"/>
                <a:ea typeface="Cambria" pitchFamily="34" charset="-122"/>
                <a:cs typeface="Cambria" pitchFamily="34" charset="-120"/>
              </a:rPr>
              <a:t>8</a:t>
            </a:r>
            <a:endParaRPr lang="en-US" sz="5400" dirty="0"/>
          </a:p>
        </p:txBody>
      </p:sp>
      <p:sp>
        <p:nvSpPr>
          <p:cNvPr id="5" name="Text 3"/>
          <p:cNvSpPr txBox="1"/>
          <p:nvPr/>
        </p:nvSpPr>
        <p:spPr>
          <a:xfrm>
            <a:off x="548640" y="2697480"/>
            <a:ext cx="1371600" cy="54864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entities</a:t>
            </a:r>
            <a:endParaRPr lang="en-US" sz="1300" dirty="0"/>
          </a:p>
        </p:txBody>
      </p:sp>
      <p:sp>
        <p:nvSpPr>
          <p:cNvPr id="6" name="Text 4"/>
          <p:cNvSpPr txBox="1"/>
          <p:nvPr/>
        </p:nvSpPr>
        <p:spPr>
          <a:xfrm>
            <a:off x="2011680" y="1828800"/>
            <a:ext cx="1371600" cy="822960"/>
          </a:xfrm>
          <a:prstGeom prst="rect">
            <a:avLst/>
          </a:prstGeom>
          <a:noFill/>
          <a:ln/>
        </p:spPr>
        <p:txBody>
          <a:bodyPr wrap="square" lIns="0" tIns="0" rIns="0" bIns="0" rtlCol="0" anchor="t"/>
          <a:lstStyle/>
          <a:p>
            <a:pPr indent="0" marL="0">
              <a:buNone/>
            </a:pPr>
            <a:r>
              <a:rPr lang="en-US" sz="5400" b="1" dirty="0">
                <a:solidFill>
                  <a:srgbClr val="0B3D3A"/>
                </a:solidFill>
                <a:latin typeface="Cambria" pitchFamily="34" charset="0"/>
                <a:ea typeface="Cambria" pitchFamily="34" charset="-122"/>
                <a:cs typeface="Cambria" pitchFamily="34" charset="-120"/>
              </a:rPr>
              <a:t>7</a:t>
            </a:r>
            <a:endParaRPr lang="en-US" sz="5400" dirty="0"/>
          </a:p>
        </p:txBody>
      </p:sp>
      <p:sp>
        <p:nvSpPr>
          <p:cNvPr id="7" name="Text 5"/>
          <p:cNvSpPr txBox="1"/>
          <p:nvPr/>
        </p:nvSpPr>
        <p:spPr>
          <a:xfrm>
            <a:off x="2011680" y="2697480"/>
            <a:ext cx="1371600" cy="54864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currencies</a:t>
            </a:r>
            <a:endParaRPr lang="en-US" sz="1300" dirty="0"/>
          </a:p>
        </p:txBody>
      </p:sp>
      <p:sp>
        <p:nvSpPr>
          <p:cNvPr id="8" name="Text 6"/>
          <p:cNvSpPr txBox="1"/>
          <p:nvPr/>
        </p:nvSpPr>
        <p:spPr>
          <a:xfrm>
            <a:off x="3474720" y="1828800"/>
            <a:ext cx="1371600" cy="822960"/>
          </a:xfrm>
          <a:prstGeom prst="rect">
            <a:avLst/>
          </a:prstGeom>
          <a:noFill/>
          <a:ln/>
        </p:spPr>
        <p:txBody>
          <a:bodyPr wrap="square" lIns="0" tIns="0" rIns="0" bIns="0" rtlCol="0" anchor="t"/>
          <a:lstStyle/>
          <a:p>
            <a:pPr indent="0" marL="0">
              <a:buNone/>
            </a:pPr>
            <a:r>
              <a:rPr lang="en-US" sz="5400" b="1" dirty="0">
                <a:solidFill>
                  <a:srgbClr val="0B3D3A"/>
                </a:solidFill>
                <a:latin typeface="Cambria" pitchFamily="34" charset="0"/>
                <a:ea typeface="Cambria" pitchFamily="34" charset="-122"/>
                <a:cs typeface="Cambria" pitchFamily="34" charset="-120"/>
              </a:rPr>
              <a:t>3</a:t>
            </a:r>
            <a:endParaRPr lang="en-US" sz="5400" dirty="0"/>
          </a:p>
        </p:txBody>
      </p:sp>
      <p:sp>
        <p:nvSpPr>
          <p:cNvPr id="9" name="Text 7"/>
          <p:cNvSpPr txBox="1"/>
          <p:nvPr/>
        </p:nvSpPr>
        <p:spPr>
          <a:xfrm>
            <a:off x="3474720" y="2697480"/>
            <a:ext cx="1371600" cy="54864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accounting standards</a:t>
            </a:r>
            <a:endParaRPr lang="en-US" sz="1300" dirty="0"/>
          </a:p>
        </p:txBody>
      </p:sp>
      <p:sp>
        <p:nvSpPr>
          <p:cNvPr id="10" name="Text 8"/>
          <p:cNvSpPr txBox="1"/>
          <p:nvPr/>
        </p:nvSpPr>
        <p:spPr>
          <a:xfrm>
            <a:off x="4937760" y="1828800"/>
            <a:ext cx="1371600" cy="822960"/>
          </a:xfrm>
          <a:prstGeom prst="rect">
            <a:avLst/>
          </a:prstGeom>
          <a:noFill/>
          <a:ln/>
        </p:spPr>
        <p:txBody>
          <a:bodyPr wrap="square" lIns="0" tIns="0" rIns="0" bIns="0" rtlCol="0" anchor="t"/>
          <a:lstStyle/>
          <a:p>
            <a:pPr indent="0" marL="0">
              <a:buNone/>
            </a:pPr>
            <a:r>
              <a:rPr lang="en-US" sz="5400" b="1" dirty="0">
                <a:solidFill>
                  <a:srgbClr val="0B3D3A"/>
                </a:solidFill>
                <a:latin typeface="Cambria" pitchFamily="34" charset="0"/>
                <a:ea typeface="Cambria" pitchFamily="34" charset="-122"/>
                <a:cs typeface="Cambria" pitchFamily="34" charset="-120"/>
              </a:rPr>
              <a:t>15</a:t>
            </a:r>
            <a:endParaRPr lang="en-US" sz="5400" dirty="0"/>
          </a:p>
        </p:txBody>
      </p:sp>
      <p:sp>
        <p:nvSpPr>
          <p:cNvPr id="11" name="Text 9"/>
          <p:cNvSpPr txBox="1"/>
          <p:nvPr/>
        </p:nvSpPr>
        <p:spPr>
          <a:xfrm>
            <a:off x="4937760" y="2697480"/>
            <a:ext cx="1371600" cy="54864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tabs in one file</a:t>
            </a:r>
            <a:endParaRPr lang="en-US" sz="1300" dirty="0"/>
          </a:p>
        </p:txBody>
      </p:sp>
      <p:sp>
        <p:nvSpPr>
          <p:cNvPr id="12" name="Text 10"/>
          <p:cNvSpPr txBox="1"/>
          <p:nvPr/>
        </p:nvSpPr>
        <p:spPr>
          <a:xfrm>
            <a:off x="548640" y="3566160"/>
            <a:ext cx="5669280" cy="2011680"/>
          </a:xfrm>
          <a:prstGeom prst="rect">
            <a:avLst/>
          </a:prstGeom>
          <a:noFill/>
          <a:ln/>
        </p:spPr>
        <p:txBody>
          <a:bodyPr wrap="square" lIns="0" tIns="0" rIns="0" bIns="0" rtlCol="0" anchor="t"/>
          <a:lstStyle/>
          <a:p>
            <a:pPr indent="0" marL="0">
              <a:buNone/>
            </a:pPr>
            <a:r>
              <a:rPr lang="en-US" sz="1500" b="1" dirty="0">
                <a:solidFill>
                  <a:srgbClr val="0B3D3A"/>
                </a:solidFill>
                <a:latin typeface="Calibri" pitchFamily="34" charset="0"/>
                <a:ea typeface="Calibri" pitchFamily="34" charset="-122"/>
                <a:cs typeface="Calibri" pitchFamily="34" charset="-120"/>
              </a:rPr>
              <a:t>Included on purpose: </a:t>
            </a:r>
            <a:pPr indent="0" marL="0">
              <a:buNone/>
            </a:pPr>
            <a:r>
              <a:rPr lang="en-US" sz="1500" dirty="0">
                <a:solidFill>
                  <a:srgbClr val="1F2A2E"/>
                </a:solidFill>
                <a:latin typeface="Calibri" pitchFamily="34" charset="0"/>
                <a:ea typeface="Calibri" pitchFamily="34" charset="-122"/>
                <a:cs typeface="Calibri" pitchFamily="34" charset="-120"/>
              </a:rPr>
              <a:t>a mid-year acquisition and a disposal, a 70%-owned subsidiary, a 40% joint venture on a different fiscal year, a hyperinflationary subsidiary, a missing month, a broken formula cell, a hidden duplicate tab, forecast rows in actuals, and planted accounting red flags.</a:t>
            </a:r>
            <a:endParaRPr lang="en-US" sz="1500" dirty="0"/>
          </a:p>
        </p:txBody>
      </p:sp>
      <p:graphicFrame>
        <p:nvGraphicFramePr>
          <p:cNvPr id="13" name="Chart 0" descr=""/>
          <p:cNvGraphicFramePr/>
          <p:nvPr/>
        </p:nvGraphicFramePr>
        <p:xfrm>
          <a:off x="6583680" y="1371600"/>
          <a:ext cx="5029200" cy="3931920"/>
        </p:xfrm>
        <a:graphic xmlns:a="http://schemas.openxmlformats.org/drawingml/2006/main">
          <a:graphicData uri="http://schemas.openxmlformats.org/drawingml/2006/chart">
            <c:chart xmlns:c="http://schemas.openxmlformats.org/drawingml/2006/chart" r:id="rId1"/>
          </a:graphicData>
        </a:graphic>
      </p:graphicFrame>
      <p:sp>
        <p:nvSpPr>
          <p:cNvPr id="14" name="proof note"/>
          <p:cNvSpPr/>
          <p:nvPr/>
        </p:nvSpPr>
        <p:spPr>
          <a:xfrm>
            <a:off x="548640" y="5623560"/>
            <a:ext cx="11064240" cy="594360"/>
          </a:xfrm>
          <a:prstGeom prst="roundRect">
            <a:avLst>
              <a:gd name="adj" fmla="val 18462"/>
            </a:avLst>
          </a:prstGeom>
          <a:solidFill>
            <a:srgbClr val="EEF4F2"/>
          </a:solidFill>
          <a:ln w="12700">
            <a:solidFill>
              <a:srgbClr val="EEF4F2"/>
            </a:solidFill>
            <a:prstDash val="solid"/>
          </a:ln>
        </p:spPr>
      </p:sp>
      <p:sp>
        <p:nvSpPr>
          <p:cNvPr id="15" name="Text 12"/>
          <p:cNvSpPr txBox="1"/>
          <p:nvPr/>
        </p:nvSpPr>
        <p:spPr>
          <a:xfrm>
            <a:off x="777240" y="5733288"/>
            <a:ext cx="10607040" cy="411480"/>
          </a:xfrm>
          <a:prstGeom prst="rect">
            <a:avLst/>
          </a:prstGeom>
          <a:noFill/>
          <a:ln/>
        </p:spPr>
        <p:txBody>
          <a:bodyPr wrap="square" lIns="0" tIns="0" rIns="0" bIns="0" rtlCol="0" anchor="t"/>
          <a:lstStyle/>
          <a:p>
            <a:pPr indent="0" marL="0">
              <a:buNone/>
            </a:pPr>
            <a:r>
              <a:rPr lang="en-US" sz="1500" b="1" dirty="0">
                <a:solidFill>
                  <a:srgbClr val="0B3D3A"/>
                </a:solidFill>
                <a:latin typeface="Calibri" pitchFamily="34" charset="0"/>
                <a:ea typeface="Calibri" pitchFamily="34" charset="-122"/>
                <a:cs typeface="Calibri" pitchFamily="34" charset="-120"/>
              </a:rPr>
              <a:t>All five gaps from the first pass were then closed in the pipeline, and the re-run passed every automated QA check.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0B3D3A"/>
                </a:solidFill>
                <a:latin typeface="Cambria" pitchFamily="34" charset="0"/>
                <a:ea typeface="Cambria" pitchFamily="34" charset="-122"/>
                <a:cs typeface="Cambria" pitchFamily="34" charset="-120"/>
              </a:rPr>
              <a:t>What it found: a covenant figure that did not hold up</a:t>
            </a:r>
            <a:endParaRPr lang="en-US" sz="3200" dirty="0"/>
          </a:p>
        </p:txBody>
      </p:sp>
      <p:graphicFrame>
        <p:nvGraphicFramePr>
          <p:cNvPr id="3" name="Chart 0" descr=""/>
          <p:cNvGraphicFramePr/>
          <p:nvPr/>
        </p:nvGraphicFramePr>
        <p:xfrm>
          <a:off x="548640" y="137160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4" name="finding 1 circle"/>
          <p:cNvSpPr/>
          <p:nvPr/>
        </p:nvSpPr>
        <p:spPr>
          <a:xfrm>
            <a:off x="6949440" y="1417320"/>
            <a:ext cx="640080" cy="640080"/>
          </a:xfrm>
          <a:prstGeom prst="ellipse">
            <a:avLst/>
          </a:prstGeom>
          <a:solidFill>
            <a:srgbClr val="B5462F"/>
          </a:solidFill>
          <a:ln w="12700">
            <a:solidFill>
              <a:srgbClr val="B5462F"/>
            </a:solidFill>
            <a:prstDash val="solid"/>
          </a:ln>
        </p:spPr>
      </p:sp>
      <p:pic>
        <p:nvPicPr>
          <p:cNvPr id="5" name="finding 1 icon" descr="preencoded.png">    </p:cNvPr>
          <p:cNvPicPr>
            <a:picLocks noChangeAspect="1"/>
          </p:cNvPicPr>
          <p:nvPr/>
        </p:nvPicPr>
        <p:blipFill>
          <a:blip r:embed="rId2"/>
          <a:stretch>
            <a:fillRect/>
          </a:stretch>
        </p:blipFill>
        <p:spPr>
          <a:xfrm>
            <a:off x="7109460" y="1577340"/>
            <a:ext cx="320040" cy="320040"/>
          </a:xfrm>
          <a:prstGeom prst="rect">
            <a:avLst/>
          </a:prstGeom>
        </p:spPr>
      </p:pic>
      <p:sp>
        <p:nvSpPr>
          <p:cNvPr id="6" name="Text 2"/>
          <p:cNvSpPr txBox="1"/>
          <p:nvPr/>
        </p:nvSpPr>
        <p:spPr>
          <a:xfrm>
            <a:off x="7772400" y="1399032"/>
            <a:ext cx="3840480" cy="365760"/>
          </a:xfrm>
          <a:prstGeom prst="rect">
            <a:avLst/>
          </a:prstGeom>
          <a:noFill/>
          <a:ln/>
        </p:spPr>
        <p:txBody>
          <a:bodyPr wrap="square" lIns="0" tIns="0" rIns="0" bIns="0" rtlCol="0" anchor="t"/>
          <a:lstStyle/>
          <a:p>
            <a:pPr indent="0" marL="0">
              <a:buNone/>
            </a:pPr>
            <a:r>
              <a:rPr lang="en-US" sz="1600" b="1" dirty="0">
                <a:solidFill>
                  <a:srgbClr val="0B3D3A"/>
                </a:solidFill>
                <a:latin typeface="Calibri" pitchFamily="34" charset="0"/>
                <a:ea typeface="Calibri" pitchFamily="34" charset="-122"/>
                <a:cs typeface="Calibri" pitchFamily="34" charset="-120"/>
              </a:rPr>
              <a:t>Recomputed from the loan agreement</a:t>
            </a:r>
            <a:endParaRPr lang="en-US" sz="1600" dirty="0"/>
          </a:p>
        </p:txBody>
      </p:sp>
      <p:sp>
        <p:nvSpPr>
          <p:cNvPr id="7" name="Text 3"/>
          <p:cNvSpPr txBox="1"/>
          <p:nvPr/>
        </p:nvSpPr>
        <p:spPr>
          <a:xfrm>
            <a:off x="7772400" y="1783080"/>
            <a:ext cx="3840480" cy="914400"/>
          </a:xfrm>
          <a:prstGeom prst="rect">
            <a:avLst/>
          </a:prstGeom>
          <a:noFill/>
          <a:ln/>
        </p:spPr>
        <p:txBody>
          <a:bodyPr wrap="square" lIns="0" tIns="0" rIns="0" bIns="0" rtlCol="0" anchor="t"/>
          <a:lstStyle/>
          <a:p>
            <a:pPr indent="0" marL="0">
              <a:buNone/>
            </a:pPr>
            <a:r>
              <a:rPr lang="en-US" sz="1300" dirty="0">
                <a:solidFill>
                  <a:srgbClr val="1F2A2E"/>
                </a:solidFill>
                <a:latin typeface="Calibri" pitchFamily="34" charset="0"/>
                <a:ea typeface="Calibri" pitchFamily="34" charset="-122"/>
                <a:cs typeface="Calibri" pitchFamily="34" charset="-120"/>
              </a:rPr>
              <a:t>The client's 1.22x left the drawn revolver out of net debt. On the facility's own definition: 1.41x, only 6.2% headroom.</a:t>
            </a:r>
            <a:endParaRPr lang="en-US" sz="1300" dirty="0"/>
          </a:p>
        </p:txBody>
      </p:sp>
      <p:sp>
        <p:nvSpPr>
          <p:cNvPr id="8" name="finding 2 circle"/>
          <p:cNvSpPr/>
          <p:nvPr/>
        </p:nvSpPr>
        <p:spPr>
          <a:xfrm>
            <a:off x="6949440" y="2788920"/>
            <a:ext cx="640080" cy="640080"/>
          </a:xfrm>
          <a:prstGeom prst="ellipse">
            <a:avLst/>
          </a:prstGeom>
          <a:solidFill>
            <a:srgbClr val="0B3D3A"/>
          </a:solidFill>
          <a:ln w="12700">
            <a:solidFill>
              <a:srgbClr val="0B3D3A"/>
            </a:solidFill>
            <a:prstDash val="solid"/>
          </a:ln>
        </p:spPr>
      </p:sp>
      <p:pic>
        <p:nvPicPr>
          <p:cNvPr id="9" name="finding 2 icon" descr="preencoded.png">    </p:cNvPr>
          <p:cNvPicPr>
            <a:picLocks noChangeAspect="1"/>
          </p:cNvPicPr>
          <p:nvPr/>
        </p:nvPicPr>
        <p:blipFill>
          <a:blip r:embed="rId3"/>
          <a:stretch>
            <a:fillRect/>
          </a:stretch>
        </p:blipFill>
        <p:spPr>
          <a:xfrm>
            <a:off x="7109460" y="2948940"/>
            <a:ext cx="320040" cy="320040"/>
          </a:xfrm>
          <a:prstGeom prst="rect">
            <a:avLst/>
          </a:prstGeom>
        </p:spPr>
      </p:pic>
      <p:sp>
        <p:nvSpPr>
          <p:cNvPr id="10" name="Text 5"/>
          <p:cNvSpPr txBox="1"/>
          <p:nvPr/>
        </p:nvSpPr>
        <p:spPr>
          <a:xfrm>
            <a:off x="7772400" y="2770632"/>
            <a:ext cx="3840480" cy="365760"/>
          </a:xfrm>
          <a:prstGeom prst="rect">
            <a:avLst/>
          </a:prstGeom>
          <a:noFill/>
          <a:ln/>
        </p:spPr>
        <p:txBody>
          <a:bodyPr wrap="square" lIns="0" tIns="0" rIns="0" bIns="0" rtlCol="0" anchor="t"/>
          <a:lstStyle/>
          <a:p>
            <a:pPr indent="0" marL="0">
              <a:buNone/>
            </a:pPr>
            <a:r>
              <a:rPr lang="en-US" sz="1600" b="1" dirty="0">
                <a:solidFill>
                  <a:srgbClr val="0B3D3A"/>
                </a:solidFill>
                <a:latin typeface="Calibri" pitchFamily="34" charset="0"/>
                <a:ea typeface="Calibri" pitchFamily="34" charset="-122"/>
                <a:cs typeface="Calibri" pitchFamily="34" charset="-120"/>
              </a:rPr>
              <a:t>Two going-concern indicators</a:t>
            </a:r>
            <a:endParaRPr lang="en-US" sz="1600" dirty="0"/>
          </a:p>
        </p:txBody>
      </p:sp>
      <p:sp>
        <p:nvSpPr>
          <p:cNvPr id="11" name="Text 6"/>
          <p:cNvSpPr txBox="1"/>
          <p:nvPr/>
        </p:nvSpPr>
        <p:spPr>
          <a:xfrm>
            <a:off x="7772400" y="3154680"/>
            <a:ext cx="3840480" cy="914400"/>
          </a:xfrm>
          <a:prstGeom prst="rect">
            <a:avLst/>
          </a:prstGeom>
          <a:noFill/>
          <a:ln/>
        </p:spPr>
        <p:txBody>
          <a:bodyPr wrap="square" lIns="0" tIns="0" rIns="0" bIns="0" rtlCol="0" anchor="t"/>
          <a:lstStyle/>
          <a:p>
            <a:pPr indent="0" marL="0">
              <a:buNone/>
            </a:pPr>
            <a:r>
              <a:rPr lang="en-US" sz="1300" dirty="0">
                <a:solidFill>
                  <a:srgbClr val="1F2A2E"/>
                </a:solidFill>
                <a:latin typeface="Calibri" pitchFamily="34" charset="0"/>
                <a:ea typeface="Calibri" pitchFamily="34" charset="-122"/>
                <a:cs typeface="Calibri" pitchFamily="34" charset="-120"/>
              </a:rPr>
              <a:t>Tight covenant headroom plus a term loan due within 12 months with no refinancing evidence, listed for the team.</a:t>
            </a:r>
            <a:endParaRPr lang="en-US" sz="1300" dirty="0"/>
          </a:p>
        </p:txBody>
      </p:sp>
      <p:sp>
        <p:nvSpPr>
          <p:cNvPr id="12" name="finding 3 circle"/>
          <p:cNvSpPr/>
          <p:nvPr/>
        </p:nvSpPr>
        <p:spPr>
          <a:xfrm>
            <a:off x="6949440" y="4160520"/>
            <a:ext cx="640080" cy="640080"/>
          </a:xfrm>
          <a:prstGeom prst="ellipse">
            <a:avLst/>
          </a:prstGeom>
          <a:solidFill>
            <a:srgbClr val="0B3D3A"/>
          </a:solidFill>
          <a:ln w="12700">
            <a:solidFill>
              <a:srgbClr val="0B3D3A"/>
            </a:solidFill>
            <a:prstDash val="solid"/>
          </a:ln>
        </p:spPr>
      </p:sp>
      <p:pic>
        <p:nvPicPr>
          <p:cNvPr id="13" name="finding 3 icon" descr="preencoded.png">    </p:cNvPr>
          <p:cNvPicPr>
            <a:picLocks noChangeAspect="1"/>
          </p:cNvPicPr>
          <p:nvPr/>
        </p:nvPicPr>
        <p:blipFill>
          <a:blip r:embed="rId4"/>
          <a:stretch>
            <a:fillRect/>
          </a:stretch>
        </p:blipFill>
        <p:spPr>
          <a:xfrm>
            <a:off x="7109460" y="4320540"/>
            <a:ext cx="320040" cy="320040"/>
          </a:xfrm>
          <a:prstGeom prst="rect">
            <a:avLst/>
          </a:prstGeom>
        </p:spPr>
      </p:pic>
      <p:sp>
        <p:nvSpPr>
          <p:cNvPr id="14" name="Text 8"/>
          <p:cNvSpPr txBox="1"/>
          <p:nvPr/>
        </p:nvSpPr>
        <p:spPr>
          <a:xfrm>
            <a:off x="7772400" y="4142232"/>
            <a:ext cx="3840480" cy="365760"/>
          </a:xfrm>
          <a:prstGeom prst="rect">
            <a:avLst/>
          </a:prstGeom>
          <a:noFill/>
          <a:ln/>
        </p:spPr>
        <p:txBody>
          <a:bodyPr wrap="square" lIns="0" tIns="0" rIns="0" bIns="0" rtlCol="0" anchor="t"/>
          <a:lstStyle/>
          <a:p>
            <a:pPr indent="0" marL="0">
              <a:buNone/>
            </a:pPr>
            <a:r>
              <a:rPr lang="en-US" sz="1600" b="1" dirty="0">
                <a:solidFill>
                  <a:srgbClr val="0B3D3A"/>
                </a:solidFill>
                <a:latin typeface="Calibri" pitchFamily="34" charset="0"/>
                <a:ea typeface="Calibri" pitchFamily="34" charset="-122"/>
                <a:cs typeface="Calibri" pitchFamily="34" charset="-120"/>
              </a:rPr>
              <a:t>Earnings quality, quantified</a:t>
            </a:r>
            <a:endParaRPr lang="en-US" sz="1600" dirty="0"/>
          </a:p>
        </p:txBody>
      </p:sp>
      <p:sp>
        <p:nvSpPr>
          <p:cNvPr id="15" name="Text 9"/>
          <p:cNvSpPr txBox="1"/>
          <p:nvPr/>
        </p:nvSpPr>
        <p:spPr>
          <a:xfrm>
            <a:off x="7772400" y="4526280"/>
            <a:ext cx="3840480" cy="914400"/>
          </a:xfrm>
          <a:prstGeom prst="rect">
            <a:avLst/>
          </a:prstGeom>
          <a:noFill/>
          <a:ln/>
        </p:spPr>
        <p:txBody>
          <a:bodyPr wrap="square" lIns="0" tIns="0" rIns="0" bIns="0" rtlCol="0" anchor="t"/>
          <a:lstStyle/>
          <a:p>
            <a:pPr indent="0" marL="0">
              <a:buNone/>
            </a:pPr>
            <a:r>
              <a:rPr lang="en-US" sz="1300" dirty="0">
                <a:solidFill>
                  <a:srgbClr val="1F2A2E"/>
                </a:solidFill>
                <a:latin typeface="Calibri" pitchFamily="34" charset="0"/>
                <a:ea typeface="Calibri" pitchFamily="34" charset="-122"/>
                <a:cs typeface="Calibri" pitchFamily="34" charset="-120"/>
              </a:rPr>
              <a:t>Adjusted EBITDA of 23.9m falls to 21.3m once a provision release, a capitalization shift and a recurring 'one-time' charge are removed.</a:t>
            </a:r>
            <a:endParaRPr lang="en-US" sz="1300" dirty="0"/>
          </a:p>
        </p:txBody>
      </p:sp>
      <p:sp>
        <p:nvSpPr>
          <p:cNvPr id="16" name="Text 10"/>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200" i="1" dirty="0">
                <a:solidFill>
                  <a:srgbClr val="5E6E73"/>
                </a:solidFill>
                <a:latin typeface="Calibri" pitchFamily="34" charset="0"/>
                <a:ea typeface="Calibri" pitchFamily="34" charset="-122"/>
                <a:cs typeface="Calibri" pitchFamily="34" charset="-120"/>
              </a:rPr>
              <a:t>Figures from the synthetic stress-test group (USD). Illustrates the type of finding, not a client result.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0B3D3A"/>
                </a:solidFill>
                <a:latin typeface="Cambria" pitchFamily="34" charset="0"/>
                <a:ea typeface="Cambria" pitchFamily="34" charset="-122"/>
                <a:cs typeface="Cambria" pitchFamily="34" charset="-120"/>
              </a:rPr>
              <a:t>Built to be reviewed, not just believed</a:t>
            </a:r>
            <a:endParaRPr lang="en-US" sz="3200" dirty="0"/>
          </a:p>
        </p:txBody>
      </p:sp>
      <p:sp>
        <p:nvSpPr>
          <p:cNvPr id="3" name="trust card 1"/>
          <p:cNvSpPr/>
          <p:nvPr/>
        </p:nvSpPr>
        <p:spPr>
          <a:xfrm>
            <a:off x="548640" y="1463040"/>
            <a:ext cx="5440680" cy="1371600"/>
          </a:xfrm>
          <a:prstGeom prst="roundRect">
            <a:avLst>
              <a:gd name="adj" fmla="val 8000"/>
            </a:avLst>
          </a:prstGeom>
          <a:solidFill>
            <a:srgbClr val="EEF4F2"/>
          </a:solidFill>
          <a:ln w="12700">
            <a:solidFill>
              <a:srgbClr val="EEF4F2"/>
            </a:solidFill>
            <a:prstDash val="solid"/>
          </a:ln>
        </p:spPr>
      </p:sp>
      <p:sp>
        <p:nvSpPr>
          <p:cNvPr id="4" name="trust 1 circle"/>
          <p:cNvSpPr/>
          <p:nvPr/>
        </p:nvSpPr>
        <p:spPr>
          <a:xfrm>
            <a:off x="777240" y="1783080"/>
            <a:ext cx="731520" cy="731520"/>
          </a:xfrm>
          <a:prstGeom prst="ellipse">
            <a:avLst/>
          </a:prstGeom>
          <a:solidFill>
            <a:srgbClr val="0B3D3A"/>
          </a:solidFill>
          <a:ln w="12700">
            <a:solidFill>
              <a:srgbClr val="0B3D3A"/>
            </a:solidFill>
            <a:prstDash val="solid"/>
          </a:ln>
        </p:spPr>
      </p:sp>
      <p:pic>
        <p:nvPicPr>
          <p:cNvPr id="5" name="trust 1 icon" descr="preencoded.png">    </p:cNvPr>
          <p:cNvPicPr>
            <a:picLocks noChangeAspect="1"/>
          </p:cNvPicPr>
          <p:nvPr/>
        </p:nvPicPr>
        <p:blipFill>
          <a:blip r:embed="rId1"/>
          <a:stretch>
            <a:fillRect/>
          </a:stretch>
        </p:blipFill>
        <p:spPr>
          <a:xfrm>
            <a:off x="960120" y="1965960"/>
            <a:ext cx="365760" cy="365760"/>
          </a:xfrm>
          <a:prstGeom prst="rect">
            <a:avLst/>
          </a:prstGeom>
        </p:spPr>
      </p:pic>
      <p:sp>
        <p:nvSpPr>
          <p:cNvPr id="6" name="Text 3"/>
          <p:cNvSpPr txBox="1"/>
          <p:nvPr/>
        </p:nvSpPr>
        <p:spPr>
          <a:xfrm>
            <a:off x="1737360" y="1645920"/>
            <a:ext cx="4114800" cy="365760"/>
          </a:xfrm>
          <a:prstGeom prst="rect">
            <a:avLst/>
          </a:prstGeom>
          <a:noFill/>
          <a:ln/>
        </p:spPr>
        <p:txBody>
          <a:bodyPr wrap="square" lIns="0" tIns="0" rIns="0" bIns="0" rtlCol="0" anchor="t"/>
          <a:lstStyle/>
          <a:p>
            <a:pPr indent="0" marL="0">
              <a:buNone/>
            </a:pPr>
            <a:r>
              <a:rPr lang="en-US" sz="1600" b="1" dirty="0">
                <a:solidFill>
                  <a:srgbClr val="0B3D3A"/>
                </a:solidFill>
                <a:latin typeface="Calibri" pitchFamily="34" charset="0"/>
                <a:ea typeface="Calibri" pitchFamily="34" charset="-122"/>
                <a:cs typeface="Calibri" pitchFamily="34" charset="-120"/>
              </a:rPr>
              <a:t>Assumptions &amp; Judgment Log</a:t>
            </a:r>
            <a:endParaRPr lang="en-US" sz="1600" dirty="0"/>
          </a:p>
        </p:txBody>
      </p:sp>
      <p:sp>
        <p:nvSpPr>
          <p:cNvPr id="7" name="Text 4"/>
          <p:cNvSpPr txBox="1"/>
          <p:nvPr/>
        </p:nvSpPr>
        <p:spPr>
          <a:xfrm>
            <a:off x="1737360" y="2029968"/>
            <a:ext cx="4114800" cy="731520"/>
          </a:xfrm>
          <a:prstGeom prst="rect">
            <a:avLst/>
          </a:prstGeom>
          <a:noFill/>
          <a:ln/>
        </p:spPr>
        <p:txBody>
          <a:bodyPr wrap="square" lIns="0" tIns="0" rIns="0" bIns="0" rtlCol="0" anchor="t"/>
          <a:lstStyle/>
          <a:p>
            <a:pPr indent="0" marL="0">
              <a:buNone/>
            </a:pPr>
            <a:r>
              <a:rPr lang="en-US" sz="1300" dirty="0">
                <a:solidFill>
                  <a:srgbClr val="1F2A2E"/>
                </a:solidFill>
                <a:latin typeface="Calibri" pitchFamily="34" charset="0"/>
                <a:ea typeface="Calibri" pitchFamily="34" charset="-122"/>
                <a:cs typeface="Calibri" pitchFamily="34" charset="-120"/>
              </a:rPr>
              <a:t>Every call is logged with a HIGH / MEDIUM / LOW confidence tier and how it was resolved.</a:t>
            </a:r>
            <a:endParaRPr lang="en-US" sz="1300" dirty="0"/>
          </a:p>
        </p:txBody>
      </p:sp>
      <p:sp>
        <p:nvSpPr>
          <p:cNvPr id="8" name="trust card 2"/>
          <p:cNvSpPr/>
          <p:nvPr/>
        </p:nvSpPr>
        <p:spPr>
          <a:xfrm>
            <a:off x="6172200" y="1463040"/>
            <a:ext cx="5440680" cy="1371600"/>
          </a:xfrm>
          <a:prstGeom prst="roundRect">
            <a:avLst>
              <a:gd name="adj" fmla="val 8000"/>
            </a:avLst>
          </a:prstGeom>
          <a:solidFill>
            <a:srgbClr val="EEF4F2"/>
          </a:solidFill>
          <a:ln w="12700">
            <a:solidFill>
              <a:srgbClr val="EEF4F2"/>
            </a:solidFill>
            <a:prstDash val="solid"/>
          </a:ln>
        </p:spPr>
      </p:sp>
      <p:sp>
        <p:nvSpPr>
          <p:cNvPr id="9" name="trust 2 circle"/>
          <p:cNvSpPr/>
          <p:nvPr/>
        </p:nvSpPr>
        <p:spPr>
          <a:xfrm>
            <a:off x="6400800" y="1783080"/>
            <a:ext cx="731520" cy="731520"/>
          </a:xfrm>
          <a:prstGeom prst="ellipse">
            <a:avLst/>
          </a:prstGeom>
          <a:solidFill>
            <a:srgbClr val="0B3D3A"/>
          </a:solidFill>
          <a:ln w="12700">
            <a:solidFill>
              <a:srgbClr val="0B3D3A"/>
            </a:solidFill>
            <a:prstDash val="solid"/>
          </a:ln>
        </p:spPr>
      </p:sp>
      <p:pic>
        <p:nvPicPr>
          <p:cNvPr id="10" name="trust 2 icon" descr="preencoded.png">    </p:cNvPr>
          <p:cNvPicPr>
            <a:picLocks noChangeAspect="1"/>
          </p:cNvPicPr>
          <p:nvPr/>
        </p:nvPicPr>
        <p:blipFill>
          <a:blip r:embed="rId2"/>
          <a:stretch>
            <a:fillRect/>
          </a:stretch>
        </p:blipFill>
        <p:spPr>
          <a:xfrm>
            <a:off x="6583680" y="1965960"/>
            <a:ext cx="365760" cy="365760"/>
          </a:xfrm>
          <a:prstGeom prst="rect">
            <a:avLst/>
          </a:prstGeom>
        </p:spPr>
      </p:pic>
      <p:sp>
        <p:nvSpPr>
          <p:cNvPr id="11" name="Text 7"/>
          <p:cNvSpPr txBox="1"/>
          <p:nvPr/>
        </p:nvSpPr>
        <p:spPr>
          <a:xfrm>
            <a:off x="7360920" y="1645920"/>
            <a:ext cx="4114800" cy="365760"/>
          </a:xfrm>
          <a:prstGeom prst="rect">
            <a:avLst/>
          </a:prstGeom>
          <a:noFill/>
          <a:ln/>
        </p:spPr>
        <p:txBody>
          <a:bodyPr wrap="square" lIns="0" tIns="0" rIns="0" bIns="0" rtlCol="0" anchor="t"/>
          <a:lstStyle/>
          <a:p>
            <a:pPr indent="0" marL="0">
              <a:buNone/>
            </a:pPr>
            <a:r>
              <a:rPr lang="en-US" sz="1600" b="1" dirty="0">
                <a:solidFill>
                  <a:srgbClr val="0B3D3A"/>
                </a:solidFill>
                <a:latin typeface="Calibri" pitchFamily="34" charset="0"/>
                <a:ea typeface="Calibri" pitchFamily="34" charset="-122"/>
                <a:cs typeface="Calibri" pitchFamily="34" charset="-120"/>
              </a:rPr>
              <a:t>Live formulas, not pasted values</a:t>
            </a:r>
            <a:endParaRPr lang="en-US" sz="1600" dirty="0"/>
          </a:p>
        </p:txBody>
      </p:sp>
      <p:sp>
        <p:nvSpPr>
          <p:cNvPr id="12" name="Text 8"/>
          <p:cNvSpPr txBox="1"/>
          <p:nvPr/>
        </p:nvSpPr>
        <p:spPr>
          <a:xfrm>
            <a:off x="7360920" y="2029968"/>
            <a:ext cx="4114800" cy="731520"/>
          </a:xfrm>
          <a:prstGeom prst="rect">
            <a:avLst/>
          </a:prstGeom>
          <a:noFill/>
          <a:ln/>
        </p:spPr>
        <p:txBody>
          <a:bodyPr wrap="square" lIns="0" tIns="0" rIns="0" bIns="0" rtlCol="0" anchor="t"/>
          <a:lstStyle/>
          <a:p>
            <a:pPr indent="0" marL="0">
              <a:buNone/>
            </a:pPr>
            <a:r>
              <a:rPr lang="en-US" sz="1300" dirty="0">
                <a:solidFill>
                  <a:srgbClr val="1F2A2E"/>
                </a:solidFill>
                <a:latin typeface="Calibri" pitchFamily="34" charset="0"/>
                <a:ea typeface="Calibri" pitchFamily="34" charset="-122"/>
                <a:cs typeface="Calibri" pitchFamily="34" charset="-120"/>
              </a:rPr>
              <a:t>The workbook recalculates; balance-sheet and cash-flow tie-outs must read zero.</a:t>
            </a:r>
            <a:endParaRPr lang="en-US" sz="1300" dirty="0"/>
          </a:p>
        </p:txBody>
      </p:sp>
      <p:sp>
        <p:nvSpPr>
          <p:cNvPr id="13" name="trust card 3"/>
          <p:cNvSpPr/>
          <p:nvPr/>
        </p:nvSpPr>
        <p:spPr>
          <a:xfrm>
            <a:off x="548640" y="3017520"/>
            <a:ext cx="5440680" cy="1371600"/>
          </a:xfrm>
          <a:prstGeom prst="roundRect">
            <a:avLst>
              <a:gd name="adj" fmla="val 8000"/>
            </a:avLst>
          </a:prstGeom>
          <a:solidFill>
            <a:srgbClr val="EEF4F2"/>
          </a:solidFill>
          <a:ln w="12700">
            <a:solidFill>
              <a:srgbClr val="EEF4F2"/>
            </a:solidFill>
            <a:prstDash val="solid"/>
          </a:ln>
        </p:spPr>
      </p:sp>
      <p:sp>
        <p:nvSpPr>
          <p:cNvPr id="14" name="trust 3 circle"/>
          <p:cNvSpPr/>
          <p:nvPr/>
        </p:nvSpPr>
        <p:spPr>
          <a:xfrm>
            <a:off x="777240" y="3337560"/>
            <a:ext cx="731520" cy="731520"/>
          </a:xfrm>
          <a:prstGeom prst="ellipse">
            <a:avLst/>
          </a:prstGeom>
          <a:solidFill>
            <a:srgbClr val="0B3D3A"/>
          </a:solidFill>
          <a:ln w="12700">
            <a:solidFill>
              <a:srgbClr val="0B3D3A"/>
            </a:solidFill>
            <a:prstDash val="solid"/>
          </a:ln>
        </p:spPr>
      </p:sp>
      <p:pic>
        <p:nvPicPr>
          <p:cNvPr id="15" name="trust 3 icon" descr="preencoded.png">    </p:cNvPr>
          <p:cNvPicPr>
            <a:picLocks noChangeAspect="1"/>
          </p:cNvPicPr>
          <p:nvPr/>
        </p:nvPicPr>
        <p:blipFill>
          <a:blip r:embed="rId3"/>
          <a:stretch>
            <a:fillRect/>
          </a:stretch>
        </p:blipFill>
        <p:spPr>
          <a:xfrm>
            <a:off x="960120" y="3520440"/>
            <a:ext cx="365760" cy="365760"/>
          </a:xfrm>
          <a:prstGeom prst="rect">
            <a:avLst/>
          </a:prstGeom>
        </p:spPr>
      </p:pic>
      <p:sp>
        <p:nvSpPr>
          <p:cNvPr id="16" name="Text 11"/>
          <p:cNvSpPr txBox="1"/>
          <p:nvPr/>
        </p:nvSpPr>
        <p:spPr>
          <a:xfrm>
            <a:off x="1737360" y="3200400"/>
            <a:ext cx="4114800" cy="365760"/>
          </a:xfrm>
          <a:prstGeom prst="rect">
            <a:avLst/>
          </a:prstGeom>
          <a:noFill/>
          <a:ln/>
        </p:spPr>
        <p:txBody>
          <a:bodyPr wrap="square" lIns="0" tIns="0" rIns="0" bIns="0" rtlCol="0" anchor="t"/>
          <a:lstStyle/>
          <a:p>
            <a:pPr indent="0" marL="0">
              <a:buNone/>
            </a:pPr>
            <a:r>
              <a:rPr lang="en-US" sz="1600" b="1" dirty="0">
                <a:solidFill>
                  <a:srgbClr val="0B3D3A"/>
                </a:solidFill>
                <a:latin typeface="Calibri" pitchFamily="34" charset="0"/>
                <a:ea typeface="Calibri" pitchFamily="34" charset="-122"/>
                <a:cs typeface="Calibri" pitchFamily="34" charset="-120"/>
              </a:rPr>
              <a:t>Never invents a number</a:t>
            </a:r>
            <a:endParaRPr lang="en-US" sz="1600" dirty="0"/>
          </a:p>
        </p:txBody>
      </p:sp>
      <p:sp>
        <p:nvSpPr>
          <p:cNvPr id="17" name="Text 12"/>
          <p:cNvSpPr txBox="1"/>
          <p:nvPr/>
        </p:nvSpPr>
        <p:spPr>
          <a:xfrm>
            <a:off x="1737360" y="3584448"/>
            <a:ext cx="4114800" cy="731520"/>
          </a:xfrm>
          <a:prstGeom prst="rect">
            <a:avLst/>
          </a:prstGeom>
          <a:noFill/>
          <a:ln/>
        </p:spPr>
        <p:txBody>
          <a:bodyPr wrap="square" lIns="0" tIns="0" rIns="0" bIns="0" rtlCol="0" anchor="t"/>
          <a:lstStyle/>
          <a:p>
            <a:pPr indent="0" marL="0">
              <a:buNone/>
            </a:pPr>
            <a:r>
              <a:rPr lang="en-US" sz="1300" dirty="0">
                <a:solidFill>
                  <a:srgbClr val="1F2A2E"/>
                </a:solidFill>
                <a:latin typeface="Calibri" pitchFamily="34" charset="0"/>
                <a:ea typeface="Calibri" pitchFamily="34" charset="-122"/>
                <a:cs typeface="Calibri" pitchFamily="34" charset="-120"/>
              </a:rPr>
              <a:t>A gap gets a documented default and a flag, or 'not available', never a plausible guess.</a:t>
            </a:r>
            <a:endParaRPr lang="en-US" sz="1300" dirty="0"/>
          </a:p>
        </p:txBody>
      </p:sp>
      <p:sp>
        <p:nvSpPr>
          <p:cNvPr id="18" name="trust card 4"/>
          <p:cNvSpPr/>
          <p:nvPr/>
        </p:nvSpPr>
        <p:spPr>
          <a:xfrm>
            <a:off x="6172200" y="3017520"/>
            <a:ext cx="5440680" cy="1371600"/>
          </a:xfrm>
          <a:prstGeom prst="roundRect">
            <a:avLst>
              <a:gd name="adj" fmla="val 8000"/>
            </a:avLst>
          </a:prstGeom>
          <a:solidFill>
            <a:srgbClr val="EEF4F2"/>
          </a:solidFill>
          <a:ln w="12700">
            <a:solidFill>
              <a:srgbClr val="EEF4F2"/>
            </a:solidFill>
            <a:prstDash val="solid"/>
          </a:ln>
        </p:spPr>
      </p:sp>
      <p:sp>
        <p:nvSpPr>
          <p:cNvPr id="19" name="trust 4 circle"/>
          <p:cNvSpPr/>
          <p:nvPr/>
        </p:nvSpPr>
        <p:spPr>
          <a:xfrm>
            <a:off x="6400800" y="3337560"/>
            <a:ext cx="731520" cy="731520"/>
          </a:xfrm>
          <a:prstGeom prst="ellipse">
            <a:avLst/>
          </a:prstGeom>
          <a:solidFill>
            <a:srgbClr val="0B3D3A"/>
          </a:solidFill>
          <a:ln w="12700">
            <a:solidFill>
              <a:srgbClr val="0B3D3A"/>
            </a:solidFill>
            <a:prstDash val="solid"/>
          </a:ln>
        </p:spPr>
      </p:sp>
      <p:pic>
        <p:nvPicPr>
          <p:cNvPr id="20" name="trust 4 icon" descr="preencoded.png">    </p:cNvPr>
          <p:cNvPicPr>
            <a:picLocks noChangeAspect="1"/>
          </p:cNvPicPr>
          <p:nvPr/>
        </p:nvPicPr>
        <p:blipFill>
          <a:blip r:embed="rId4"/>
          <a:stretch>
            <a:fillRect/>
          </a:stretch>
        </p:blipFill>
        <p:spPr>
          <a:xfrm>
            <a:off x="6583680" y="3520440"/>
            <a:ext cx="365760" cy="365760"/>
          </a:xfrm>
          <a:prstGeom prst="rect">
            <a:avLst/>
          </a:prstGeom>
        </p:spPr>
      </p:pic>
      <p:sp>
        <p:nvSpPr>
          <p:cNvPr id="21" name="Text 15"/>
          <p:cNvSpPr txBox="1"/>
          <p:nvPr/>
        </p:nvSpPr>
        <p:spPr>
          <a:xfrm>
            <a:off x="7360920" y="3200400"/>
            <a:ext cx="4114800" cy="365760"/>
          </a:xfrm>
          <a:prstGeom prst="rect">
            <a:avLst/>
          </a:prstGeom>
          <a:noFill/>
          <a:ln/>
        </p:spPr>
        <p:txBody>
          <a:bodyPr wrap="square" lIns="0" tIns="0" rIns="0" bIns="0" rtlCol="0" anchor="t"/>
          <a:lstStyle/>
          <a:p>
            <a:pPr indent="0" marL="0">
              <a:buNone/>
            </a:pPr>
            <a:r>
              <a:rPr lang="en-US" sz="1600" b="1" dirty="0">
                <a:solidFill>
                  <a:srgbClr val="0B3D3A"/>
                </a:solidFill>
                <a:latin typeface="Calibri" pitchFamily="34" charset="0"/>
                <a:ea typeface="Calibri" pitchFamily="34" charset="-122"/>
                <a:cs typeface="Calibri" pitchFamily="34" charset="-120"/>
              </a:rPr>
              <a:t>One source of truth</a:t>
            </a:r>
            <a:endParaRPr lang="en-US" sz="1600" dirty="0"/>
          </a:p>
        </p:txBody>
      </p:sp>
      <p:sp>
        <p:nvSpPr>
          <p:cNvPr id="22" name="Text 16"/>
          <p:cNvSpPr txBox="1"/>
          <p:nvPr/>
        </p:nvSpPr>
        <p:spPr>
          <a:xfrm>
            <a:off x="7360920" y="3584448"/>
            <a:ext cx="4114800" cy="731520"/>
          </a:xfrm>
          <a:prstGeom prst="rect">
            <a:avLst/>
          </a:prstGeom>
          <a:noFill/>
          <a:ln/>
        </p:spPr>
        <p:txBody>
          <a:bodyPr wrap="square" lIns="0" tIns="0" rIns="0" bIns="0" rtlCol="0" anchor="t"/>
          <a:lstStyle/>
          <a:p>
            <a:pPr indent="0" marL="0">
              <a:buNone/>
            </a:pPr>
            <a:r>
              <a:rPr lang="en-US" sz="1300" dirty="0">
                <a:solidFill>
                  <a:srgbClr val="1F2A2E"/>
                </a:solidFill>
                <a:latin typeface="Calibri" pitchFamily="34" charset="0"/>
                <a:ea typeface="Calibri" pitchFamily="34" charset="-122"/>
                <a:cs typeface="Calibri" pitchFamily="34" charset="-120"/>
              </a:rPr>
              <a:t>Memo and deck figures are pulled from the workbook and cross-checked automatically.</a:t>
            </a:r>
            <a:endParaRPr lang="en-US" sz="1300" dirty="0"/>
          </a:p>
        </p:txBody>
      </p:sp>
      <p:sp>
        <p:nvSpPr>
          <p:cNvPr id="23" name="trust card 5"/>
          <p:cNvSpPr/>
          <p:nvPr/>
        </p:nvSpPr>
        <p:spPr>
          <a:xfrm>
            <a:off x="548640" y="4572000"/>
            <a:ext cx="5440680" cy="1371600"/>
          </a:xfrm>
          <a:prstGeom prst="roundRect">
            <a:avLst>
              <a:gd name="adj" fmla="val 8000"/>
            </a:avLst>
          </a:prstGeom>
          <a:solidFill>
            <a:srgbClr val="EEF4F2"/>
          </a:solidFill>
          <a:ln w="12700">
            <a:solidFill>
              <a:srgbClr val="EEF4F2"/>
            </a:solidFill>
            <a:prstDash val="solid"/>
          </a:ln>
        </p:spPr>
      </p:sp>
      <p:sp>
        <p:nvSpPr>
          <p:cNvPr id="24" name="trust 5 circle"/>
          <p:cNvSpPr/>
          <p:nvPr/>
        </p:nvSpPr>
        <p:spPr>
          <a:xfrm>
            <a:off x="777240" y="4892040"/>
            <a:ext cx="731520" cy="731520"/>
          </a:xfrm>
          <a:prstGeom prst="ellipse">
            <a:avLst/>
          </a:prstGeom>
          <a:solidFill>
            <a:srgbClr val="0B3D3A"/>
          </a:solidFill>
          <a:ln w="12700">
            <a:solidFill>
              <a:srgbClr val="0B3D3A"/>
            </a:solidFill>
            <a:prstDash val="solid"/>
          </a:ln>
        </p:spPr>
      </p:sp>
      <p:pic>
        <p:nvPicPr>
          <p:cNvPr id="25" name="trust 5 icon" descr="preencoded.png">    </p:cNvPr>
          <p:cNvPicPr>
            <a:picLocks noChangeAspect="1"/>
          </p:cNvPicPr>
          <p:nvPr/>
        </p:nvPicPr>
        <p:blipFill>
          <a:blip r:embed="rId5"/>
          <a:stretch>
            <a:fillRect/>
          </a:stretch>
        </p:blipFill>
        <p:spPr>
          <a:xfrm>
            <a:off x="960120" y="5074920"/>
            <a:ext cx="365760" cy="365760"/>
          </a:xfrm>
          <a:prstGeom prst="rect">
            <a:avLst/>
          </a:prstGeom>
        </p:spPr>
      </p:pic>
      <p:sp>
        <p:nvSpPr>
          <p:cNvPr id="26" name="Text 19"/>
          <p:cNvSpPr txBox="1"/>
          <p:nvPr/>
        </p:nvSpPr>
        <p:spPr>
          <a:xfrm>
            <a:off x="1737360" y="4754880"/>
            <a:ext cx="4114800" cy="365760"/>
          </a:xfrm>
          <a:prstGeom prst="rect">
            <a:avLst/>
          </a:prstGeom>
          <a:noFill/>
          <a:ln/>
        </p:spPr>
        <p:txBody>
          <a:bodyPr wrap="square" lIns="0" tIns="0" rIns="0" bIns="0" rtlCol="0" anchor="t"/>
          <a:lstStyle/>
          <a:p>
            <a:pPr indent="0" marL="0">
              <a:buNone/>
            </a:pPr>
            <a:r>
              <a:rPr lang="en-US" sz="1600" b="1" dirty="0">
                <a:solidFill>
                  <a:srgbClr val="0B3D3A"/>
                </a:solidFill>
                <a:latin typeface="Calibri" pitchFamily="34" charset="0"/>
                <a:ea typeface="Calibri" pitchFamily="34" charset="-122"/>
                <a:cs typeface="Calibri" pitchFamily="34" charset="-120"/>
              </a:rPr>
              <a:t>Currency, period, basis stated</a:t>
            </a:r>
            <a:endParaRPr lang="en-US" sz="1600" dirty="0"/>
          </a:p>
        </p:txBody>
      </p:sp>
      <p:sp>
        <p:nvSpPr>
          <p:cNvPr id="27" name="Text 20"/>
          <p:cNvSpPr txBox="1"/>
          <p:nvPr/>
        </p:nvSpPr>
        <p:spPr>
          <a:xfrm>
            <a:off x="1737360" y="5138928"/>
            <a:ext cx="4114800" cy="731520"/>
          </a:xfrm>
          <a:prstGeom prst="rect">
            <a:avLst/>
          </a:prstGeom>
          <a:noFill/>
          <a:ln/>
        </p:spPr>
        <p:txBody>
          <a:bodyPr wrap="square" lIns="0" tIns="0" rIns="0" bIns="0" rtlCol="0" anchor="t"/>
          <a:lstStyle/>
          <a:p>
            <a:pPr indent="0" marL="0">
              <a:buNone/>
            </a:pPr>
            <a:r>
              <a:rPr lang="en-US" sz="1300" dirty="0">
                <a:solidFill>
                  <a:srgbClr val="1F2A2E"/>
                </a:solidFill>
                <a:latin typeface="Calibri" pitchFamily="34" charset="0"/>
                <a:ea typeface="Calibri" pitchFamily="34" charset="-122"/>
                <a:cs typeface="Calibri" pitchFamily="34" charset="-120"/>
              </a:rPr>
              <a:t>Every deliverable states its ISO currency, fiscal period and accounting standard.</a:t>
            </a:r>
            <a:endParaRPr lang="en-US" sz="1300" dirty="0"/>
          </a:p>
        </p:txBody>
      </p:sp>
      <p:sp>
        <p:nvSpPr>
          <p:cNvPr id="28" name="trust card 6"/>
          <p:cNvSpPr/>
          <p:nvPr/>
        </p:nvSpPr>
        <p:spPr>
          <a:xfrm>
            <a:off x="6172200" y="4572000"/>
            <a:ext cx="5440680" cy="1371600"/>
          </a:xfrm>
          <a:prstGeom prst="roundRect">
            <a:avLst>
              <a:gd name="adj" fmla="val 8000"/>
            </a:avLst>
          </a:prstGeom>
          <a:solidFill>
            <a:srgbClr val="EEF4F2"/>
          </a:solidFill>
          <a:ln w="12700">
            <a:solidFill>
              <a:srgbClr val="EEF4F2"/>
            </a:solidFill>
            <a:prstDash val="solid"/>
          </a:ln>
        </p:spPr>
      </p:sp>
      <p:sp>
        <p:nvSpPr>
          <p:cNvPr id="29" name="trust 6 circle"/>
          <p:cNvSpPr/>
          <p:nvPr/>
        </p:nvSpPr>
        <p:spPr>
          <a:xfrm>
            <a:off x="6400800" y="4892040"/>
            <a:ext cx="731520" cy="731520"/>
          </a:xfrm>
          <a:prstGeom prst="ellipse">
            <a:avLst/>
          </a:prstGeom>
          <a:solidFill>
            <a:srgbClr val="0B3D3A"/>
          </a:solidFill>
          <a:ln w="12700">
            <a:solidFill>
              <a:srgbClr val="0B3D3A"/>
            </a:solidFill>
            <a:prstDash val="solid"/>
          </a:ln>
        </p:spPr>
      </p:sp>
      <p:pic>
        <p:nvPicPr>
          <p:cNvPr id="30" name="trust 6 icon" descr="preencoded.png">    </p:cNvPr>
          <p:cNvPicPr>
            <a:picLocks noChangeAspect="1"/>
          </p:cNvPicPr>
          <p:nvPr/>
        </p:nvPicPr>
        <p:blipFill>
          <a:blip r:embed="rId6"/>
          <a:stretch>
            <a:fillRect/>
          </a:stretch>
        </p:blipFill>
        <p:spPr>
          <a:xfrm>
            <a:off x="6583680" y="5074920"/>
            <a:ext cx="365760" cy="365760"/>
          </a:xfrm>
          <a:prstGeom prst="rect">
            <a:avLst/>
          </a:prstGeom>
        </p:spPr>
      </p:pic>
      <p:sp>
        <p:nvSpPr>
          <p:cNvPr id="31" name="Text 23"/>
          <p:cNvSpPr txBox="1"/>
          <p:nvPr/>
        </p:nvSpPr>
        <p:spPr>
          <a:xfrm>
            <a:off x="7360920" y="4754880"/>
            <a:ext cx="4114800" cy="365760"/>
          </a:xfrm>
          <a:prstGeom prst="rect">
            <a:avLst/>
          </a:prstGeom>
          <a:noFill/>
          <a:ln/>
        </p:spPr>
        <p:txBody>
          <a:bodyPr wrap="square" lIns="0" tIns="0" rIns="0" bIns="0" rtlCol="0" anchor="t"/>
          <a:lstStyle/>
          <a:p>
            <a:pPr indent="0" marL="0">
              <a:buNone/>
            </a:pPr>
            <a:r>
              <a:rPr lang="en-US" sz="1600" b="1" dirty="0">
                <a:solidFill>
                  <a:srgbClr val="0B3D3A"/>
                </a:solidFill>
                <a:latin typeface="Calibri" pitchFamily="34" charset="0"/>
                <a:ea typeface="Calibri" pitchFamily="34" charset="-122"/>
                <a:cs typeface="Calibri" pitchFamily="34" charset="-120"/>
              </a:rPr>
              <a:t>Inputs are never altered</a:t>
            </a:r>
            <a:endParaRPr lang="en-US" sz="1600" dirty="0"/>
          </a:p>
        </p:txBody>
      </p:sp>
      <p:sp>
        <p:nvSpPr>
          <p:cNvPr id="32" name="Text 24"/>
          <p:cNvSpPr txBox="1"/>
          <p:nvPr/>
        </p:nvSpPr>
        <p:spPr>
          <a:xfrm>
            <a:off x="7360920" y="5138928"/>
            <a:ext cx="4114800" cy="731520"/>
          </a:xfrm>
          <a:prstGeom prst="rect">
            <a:avLst/>
          </a:prstGeom>
          <a:noFill/>
          <a:ln/>
        </p:spPr>
        <p:txBody>
          <a:bodyPr wrap="square" lIns="0" tIns="0" rIns="0" bIns="0" rtlCol="0" anchor="t"/>
          <a:lstStyle/>
          <a:p>
            <a:pPr indent="0" marL="0">
              <a:buNone/>
            </a:pPr>
            <a:r>
              <a:rPr lang="en-US" sz="1300" dirty="0">
                <a:solidFill>
                  <a:srgbClr val="1F2A2E"/>
                </a:solidFill>
                <a:latin typeface="Calibri" pitchFamily="34" charset="0"/>
                <a:ea typeface="Calibri" pitchFamily="34" charset="-122"/>
                <a:cs typeface="Calibri" pitchFamily="34" charset="-120"/>
              </a:rPr>
              <a:t>Client files are read only; every file received gets a stated fate in the File Log.</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0B3D3A"/>
                </a:solidFill>
                <a:latin typeface="Cambria" pitchFamily="34" charset="0"/>
                <a:ea typeface="Cambria" pitchFamily="34" charset="-122"/>
                <a:cs typeface="Cambria" pitchFamily="34" charset="-120"/>
              </a:rPr>
              <a:t>Savings: fewer hours on every engagement</a:t>
            </a:r>
            <a:endParaRPr lang="en-US" sz="3200" dirty="0"/>
          </a:p>
        </p:txBody>
      </p:sp>
      <p:graphicFrame>
        <p:nvGraphicFramePr>
          <p:cNvPr id="3" name="Chart 0" descr=""/>
          <p:cNvGraphicFramePr/>
          <p:nvPr/>
        </p:nvGraphicFramePr>
        <p:xfrm>
          <a:off x="548640" y="132588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858000" y="1371600"/>
            <a:ext cx="4572000" cy="1097280"/>
          </a:xfrm>
          <a:prstGeom prst="rect">
            <a:avLst/>
          </a:prstGeom>
          <a:noFill/>
          <a:ln/>
        </p:spPr>
        <p:txBody>
          <a:bodyPr wrap="square" lIns="0" tIns="0" rIns="0" bIns="0" rtlCol="0" anchor="t"/>
          <a:lstStyle/>
          <a:p>
            <a:pPr indent="0" marL="0">
              <a:buNone/>
            </a:pPr>
            <a:r>
              <a:rPr lang="en-US" sz="6600" b="1" dirty="0">
                <a:solidFill>
                  <a:srgbClr val="0B3D3A"/>
                </a:solidFill>
                <a:latin typeface="Cambria" pitchFamily="34" charset="0"/>
                <a:ea typeface="Cambria" pitchFamily="34" charset="-122"/>
                <a:cs typeface="Cambria" pitchFamily="34" charset="-120"/>
              </a:rPr>
              <a:t>66%</a:t>
            </a:r>
            <a:endParaRPr lang="en-US" sz="6600" dirty="0"/>
          </a:p>
        </p:txBody>
      </p:sp>
      <p:sp>
        <p:nvSpPr>
          <p:cNvPr id="5" name="Text 2"/>
          <p:cNvSpPr txBox="1"/>
          <p:nvPr/>
        </p:nvSpPr>
        <p:spPr>
          <a:xfrm>
            <a:off x="6858000" y="2514600"/>
            <a:ext cx="4754880" cy="365760"/>
          </a:xfrm>
          <a:prstGeom prst="rect">
            <a:avLst/>
          </a:prstGeom>
          <a:noFill/>
          <a:ln/>
        </p:spPr>
        <p:txBody>
          <a:bodyPr wrap="square" lIns="0" tIns="0" rIns="0" bIns="0" rtlCol="0" anchor="t"/>
          <a:lstStyle/>
          <a:p>
            <a:pPr indent="0" marL="0">
              <a:buNone/>
            </a:pPr>
            <a:r>
              <a:rPr lang="en-US" sz="1600" dirty="0">
                <a:solidFill>
                  <a:srgbClr val="1F2A2E"/>
                </a:solidFill>
                <a:latin typeface="Calibri" pitchFamily="34" charset="0"/>
                <a:ea typeface="Calibri" pitchFamily="34" charset="-122"/>
                <a:cs typeface="Calibri" pitchFamily="34" charset="-120"/>
              </a:rPr>
              <a:t>fewer hours: 32 down to 11 per engagement</a:t>
            </a:r>
            <a:endParaRPr lang="en-US" sz="1600" dirty="0"/>
          </a:p>
        </p:txBody>
      </p:sp>
      <p:sp>
        <p:nvSpPr>
          <p:cNvPr id="6" name="Text 3"/>
          <p:cNvSpPr txBox="1"/>
          <p:nvPr/>
        </p:nvSpPr>
        <p:spPr>
          <a:xfrm>
            <a:off x="6858000" y="3108960"/>
            <a:ext cx="4572000" cy="822960"/>
          </a:xfrm>
          <a:prstGeom prst="rect">
            <a:avLst/>
          </a:prstGeom>
          <a:noFill/>
          <a:ln/>
        </p:spPr>
        <p:txBody>
          <a:bodyPr wrap="square" lIns="0" tIns="0" rIns="0" bIns="0" rtlCol="0" anchor="t"/>
          <a:lstStyle/>
          <a:p>
            <a:pPr indent="0" marL="0">
              <a:buNone/>
            </a:pPr>
            <a:r>
              <a:rPr lang="en-US" sz="4400" b="1" dirty="0">
                <a:solidFill>
                  <a:srgbClr val="C9A227"/>
                </a:solidFill>
                <a:latin typeface="Cambria" pitchFamily="34" charset="0"/>
                <a:ea typeface="Cambria" pitchFamily="34" charset="-122"/>
                <a:cs typeface="Cambria" pitchFamily="34" charset="-120"/>
              </a:rPr>
              <a:t>USD 2,925</a:t>
            </a:r>
            <a:endParaRPr lang="en-US" sz="4400" dirty="0"/>
          </a:p>
        </p:txBody>
      </p:sp>
      <p:sp>
        <p:nvSpPr>
          <p:cNvPr id="7" name="Text 4"/>
          <p:cNvSpPr txBox="1"/>
          <p:nvPr/>
        </p:nvSpPr>
        <p:spPr>
          <a:xfrm>
            <a:off x="6858000" y="3931920"/>
            <a:ext cx="4754880" cy="640080"/>
          </a:xfrm>
          <a:prstGeom prst="rect">
            <a:avLst/>
          </a:prstGeom>
          <a:noFill/>
          <a:ln/>
        </p:spPr>
        <p:txBody>
          <a:bodyPr wrap="square" lIns="0" tIns="0" rIns="0" bIns="0" rtlCol="0" anchor="t"/>
          <a:lstStyle/>
          <a:p>
            <a:pPr indent="0" marL="0">
              <a:buNone/>
            </a:pPr>
            <a:r>
              <a:rPr lang="en-US" sz="1500" dirty="0">
                <a:solidFill>
                  <a:srgbClr val="1F2A2E"/>
                </a:solidFill>
                <a:latin typeface="Calibri" pitchFamily="34" charset="0"/>
                <a:ea typeface="Calibri" pitchFamily="34" charset="-122"/>
                <a:cs typeface="Calibri" pitchFamily="34" charset="-120"/>
              </a:rPr>
              <a:t>saved per engagement (USD 4,910 down to USD 1,985 at standard rates)</a:t>
            </a:r>
            <a:endParaRPr lang="en-US" sz="1500" dirty="0"/>
          </a:p>
        </p:txBody>
      </p:sp>
      <p:sp>
        <p:nvSpPr>
          <p:cNvPr id="8" name="assumption card"/>
          <p:cNvSpPr/>
          <p:nvPr/>
        </p:nvSpPr>
        <p:spPr>
          <a:xfrm>
            <a:off x="6858000" y="4754880"/>
            <a:ext cx="4754880" cy="1280160"/>
          </a:xfrm>
          <a:prstGeom prst="roundRect">
            <a:avLst>
              <a:gd name="adj" fmla="val 8571"/>
            </a:avLst>
          </a:prstGeom>
          <a:solidFill>
            <a:srgbClr val="EEF4F2"/>
          </a:solidFill>
          <a:ln w="12700">
            <a:solidFill>
              <a:srgbClr val="EEF4F2"/>
            </a:solidFill>
            <a:prstDash val="solid"/>
          </a:ln>
        </p:spPr>
      </p:sp>
      <p:sp>
        <p:nvSpPr>
          <p:cNvPr id="9" name="Text 6"/>
          <p:cNvSpPr txBox="1"/>
          <p:nvPr/>
        </p:nvSpPr>
        <p:spPr>
          <a:xfrm>
            <a:off x="7040880" y="4846320"/>
            <a:ext cx="4434840" cy="1234440"/>
          </a:xfrm>
          <a:prstGeom prst="rect">
            <a:avLst/>
          </a:prstGeom>
          <a:noFill/>
          <a:ln/>
        </p:spPr>
        <p:txBody>
          <a:bodyPr wrap="square" lIns="0" tIns="0" rIns="0" bIns="0" rtlCol="0" anchor="t"/>
          <a:lstStyle/>
          <a:p>
            <a:pPr indent="0" marL="0">
              <a:buNone/>
            </a:pPr>
            <a:r>
              <a:rPr lang="en-US" sz="1200" b="1" dirty="0">
                <a:solidFill>
                  <a:srgbClr val="0B3D3A"/>
                </a:solidFill>
                <a:latin typeface="Calibri" pitchFamily="34" charset="0"/>
                <a:ea typeface="Calibri" pitchFamily="34" charset="-122"/>
                <a:cs typeface="Calibri" pitchFamily="34" charset="-120"/>
              </a:rPr>
              <a:t>Illustrative assumptions: </a:t>
            </a:r>
            <a:pPr indent="0" marL="0">
              <a:buNone/>
            </a:pPr>
            <a:r>
              <a:rPr lang="en-US" sz="1200" dirty="0">
                <a:solidFill>
                  <a:srgbClr val="1F2A2E"/>
                </a:solidFill>
                <a:latin typeface="Calibri" pitchFamily="34" charset="0"/>
                <a:ea typeface="Calibri" pitchFamily="34" charset="-122"/>
                <a:cs typeface="Calibri" pitchFamily="34" charset="-120"/>
              </a:rPr>
              <a:t>rates per hour staff USD 120, senior USD 175, manager USD 250. With the agent, time goes to file preparation, the checkpoint and final review. We calibrate these to your timesheets during the pilot. AI usage costs are excluded.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0B3D3A"/>
                </a:solidFill>
                <a:latin typeface="Cambria" pitchFamily="34" charset="0"/>
                <a:ea typeface="Cambria" pitchFamily="34" charset="-122"/>
                <a:cs typeface="Cambria" pitchFamily="34" charset="-120"/>
              </a:rPr>
              <a:t>At portfolio scale, the hours become capacity</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583680" cy="914400"/>
        </p:xfrm>
        <a:graphic>
          <a:graphicData uri="http://schemas.openxmlformats.org/drawingml/2006/table">
            <a:tbl>
              <a:tblPr/>
              <a:tblGrid>
                <a:gridCol w="1920240"/>
                <a:gridCol w="1463040"/>
                <a:gridCol w="1645920"/>
                <a:gridCol w="1554480"/>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Engagements per year</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0B3D3A"/>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Hours released</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0B3D3A"/>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Cost saved (USD)</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0B3D3A"/>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Equivalent staff capacity</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0B3D3A"/>
                    </a:solidFill>
                  </a:tcPr>
                </a:tc>
              </a:tr>
              <a:tr h="548640">
                <a:tc>
                  <a:txBody>
                    <a:bodyPr/>
                    <a:lstStyle/>
                    <a:p>
                      <a:pPr indent="0" marL="0">
                        <a:buNone/>
                      </a:pPr>
                      <a:r>
                        <a:rPr lang="en-US" sz="1500" b="1" dirty="0">
                          <a:solidFill>
                            <a:srgbClr val="0B3D3A"/>
                          </a:solidFill>
                          <a:latin typeface="Calibri" pitchFamily="34" charset="0"/>
                          <a:ea typeface="Calibri" pitchFamily="34" charset="-122"/>
                          <a:cs typeface="Calibri" pitchFamily="34" charset="-120"/>
                        </a:rPr>
                        <a:t>25</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c>
                  <a:txBody>
                    <a:bodyPr/>
                    <a:lstStyle/>
                    <a:p>
                      <a:pPr algn="r" indent="0" marL="0">
                        <a:buNone/>
                      </a:pPr>
                      <a:r>
                        <a:rPr lang="en-US" sz="1500" dirty="0">
                          <a:solidFill>
                            <a:srgbClr val="1F2A2E"/>
                          </a:solidFill>
                          <a:latin typeface="Calibri" pitchFamily="34" charset="0"/>
                          <a:ea typeface="Calibri" pitchFamily="34" charset="-122"/>
                          <a:cs typeface="Calibri" pitchFamily="34" charset="-120"/>
                        </a:rPr>
                        <a:t>525</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c>
                  <a:txBody>
                    <a:bodyPr/>
                    <a:lstStyle/>
                    <a:p>
                      <a:pPr algn="r" indent="0" marL="0">
                        <a:buNone/>
                      </a:pPr>
                      <a:r>
                        <a:rPr lang="en-US" sz="1500" b="1" dirty="0">
                          <a:solidFill>
                            <a:srgbClr val="1F2A2E"/>
                          </a:solidFill>
                          <a:latin typeface="Calibri" pitchFamily="34" charset="0"/>
                          <a:ea typeface="Calibri" pitchFamily="34" charset="-122"/>
                          <a:cs typeface="Calibri" pitchFamily="34" charset="-120"/>
                        </a:rPr>
                        <a:t>73,125</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c>
                  <a:txBody>
                    <a:bodyPr/>
                    <a:lstStyle/>
                    <a:p>
                      <a:pPr algn="r" indent="0" marL="0">
                        <a:buNone/>
                      </a:pPr>
                      <a:r>
                        <a:rPr lang="en-US" sz="1500" dirty="0">
                          <a:solidFill>
                            <a:srgbClr val="1F2A2E"/>
                          </a:solidFill>
                          <a:latin typeface="Calibri" pitchFamily="34" charset="0"/>
                          <a:ea typeface="Calibri" pitchFamily="34" charset="-122"/>
                          <a:cs typeface="Calibri" pitchFamily="34" charset="-120"/>
                        </a:rPr>
                        <a:t>0.3 FTE</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r>
              <a:tr h="548640">
                <a:tc>
                  <a:txBody>
                    <a:bodyPr/>
                    <a:lstStyle/>
                    <a:p>
                      <a:pPr indent="0" marL="0">
                        <a:buNone/>
                      </a:pPr>
                      <a:r>
                        <a:rPr lang="en-US" sz="1500" b="1" dirty="0">
                          <a:solidFill>
                            <a:srgbClr val="0B3D3A"/>
                          </a:solidFill>
                          <a:latin typeface="Calibri" pitchFamily="34" charset="0"/>
                          <a:ea typeface="Calibri" pitchFamily="34" charset="-122"/>
                          <a:cs typeface="Calibri" pitchFamily="34" charset="-120"/>
                        </a:rPr>
                        <a:t>50</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A2E"/>
                          </a:solidFill>
                          <a:latin typeface="Calibri" pitchFamily="34" charset="0"/>
                          <a:ea typeface="Calibri" pitchFamily="34" charset="-122"/>
                          <a:cs typeface="Calibri" pitchFamily="34" charset="-120"/>
                        </a:rPr>
                        <a:t>1,050</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1F2A2E"/>
                          </a:solidFill>
                          <a:latin typeface="Calibri" pitchFamily="34" charset="0"/>
                          <a:ea typeface="Calibri" pitchFamily="34" charset="-122"/>
                          <a:cs typeface="Calibri" pitchFamily="34" charset="-120"/>
                        </a:rPr>
                        <a:t>146,250</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A2E"/>
                          </a:solidFill>
                          <a:latin typeface="Calibri" pitchFamily="34" charset="0"/>
                          <a:ea typeface="Calibri" pitchFamily="34" charset="-122"/>
                          <a:cs typeface="Calibri" pitchFamily="34" charset="-120"/>
                        </a:rPr>
                        <a:t>0.6 FTE</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0B3D3A"/>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c>
                  <a:txBody>
                    <a:bodyPr/>
                    <a:lstStyle/>
                    <a:p>
                      <a:pPr algn="r" indent="0" marL="0">
                        <a:buNone/>
                      </a:pPr>
                      <a:r>
                        <a:rPr lang="en-US" sz="1500" dirty="0">
                          <a:solidFill>
                            <a:srgbClr val="1F2A2E"/>
                          </a:solidFill>
                          <a:latin typeface="Calibri" pitchFamily="34" charset="0"/>
                          <a:ea typeface="Calibri" pitchFamily="34" charset="-122"/>
                          <a:cs typeface="Calibri" pitchFamily="34" charset="-120"/>
                        </a:rPr>
                        <a:t>2,100</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c>
                  <a:txBody>
                    <a:bodyPr/>
                    <a:lstStyle/>
                    <a:p>
                      <a:pPr algn="r" indent="0" marL="0">
                        <a:buNone/>
                      </a:pPr>
                      <a:r>
                        <a:rPr lang="en-US" sz="1500" b="1" dirty="0">
                          <a:solidFill>
                            <a:srgbClr val="1F2A2E"/>
                          </a:solidFill>
                          <a:latin typeface="Calibri" pitchFamily="34" charset="0"/>
                          <a:ea typeface="Calibri" pitchFamily="34" charset="-122"/>
                          <a:cs typeface="Calibri" pitchFamily="34" charset="-120"/>
                        </a:rPr>
                        <a:t>292,500</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c>
                  <a:txBody>
                    <a:bodyPr/>
                    <a:lstStyle/>
                    <a:p>
                      <a:pPr algn="r" indent="0" marL="0">
                        <a:buNone/>
                      </a:pPr>
                      <a:r>
                        <a:rPr lang="en-US" sz="1500" dirty="0">
                          <a:solidFill>
                            <a:srgbClr val="1F2A2E"/>
                          </a:solidFill>
                          <a:latin typeface="Calibri" pitchFamily="34" charset="0"/>
                          <a:ea typeface="Calibri" pitchFamily="34" charset="-122"/>
                          <a:cs typeface="Calibri" pitchFamily="34" charset="-120"/>
                        </a:rPr>
                        <a:t>1.2 FTE</a:t>
                      </a:r>
                      <a:endParaRPr lang="en-US" sz="1500" dirty="0">
                        <a:latin typeface="Calibri" charset="0"/>
                        <a:ea typeface="Calibri" charset="0"/>
                        <a:cs typeface="Calibri" charset="0"/>
                      </a:endParaRPr>
                    </a:p>
                  </a:txBody>
                  <a:tcPr marL="109728" marR="109728" marT="54864" marB="54864" anchor="ctr">
                    <a:lnL w="6350" cap="flat" cmpd="sng" algn="ctr">
                      <a:solidFill>
                        <a:srgbClr val="D5E2DF"/>
                      </a:solidFill>
                      <a:prstDash val="solid"/>
                      <a:round/>
                      <a:headEnd type="none" w="med" len="med"/>
                      <a:tailEnd type="none" w="med" len="med"/>
                    </a:lnL>
                    <a:lnR w="6350" cap="flat" cmpd="sng" algn="ctr">
                      <a:solidFill>
                        <a:srgbClr val="D5E2DF"/>
                      </a:solidFill>
                      <a:prstDash val="solid"/>
                      <a:round/>
                      <a:headEnd type="none" w="med" len="med"/>
                      <a:tailEnd type="none" w="med" len="med"/>
                    </a:lnR>
                    <a:lnT w="6350" cap="flat" cmpd="sng" algn="ctr">
                      <a:solidFill>
                        <a:srgbClr val="D5E2DF"/>
                      </a:solidFill>
                      <a:prstDash val="solid"/>
                      <a:round/>
                      <a:headEnd type="none" w="med" len="med"/>
                      <a:tailEnd type="none" w="med" len="med"/>
                    </a:lnT>
                    <a:lnB w="6350" cap="flat" cmpd="sng" algn="ctr">
                      <a:solidFill>
                        <a:srgbClr val="D5E2DF"/>
                      </a:solidFill>
                      <a:prstDash val="solid"/>
                      <a:round/>
                      <a:headEnd type="none" w="med" len="med"/>
                      <a:tailEnd type="none" w="med" len="med"/>
                    </a:lnB>
                    <a:solidFill>
                      <a:srgbClr val="EEF4F2"/>
                    </a:solidFill>
                  </a:tcPr>
                </a:tc>
              </a:tr>
            </a:tbl>
          </a:graphicData>
        </a:graphic>
      </p:graphicFrame>
      <p:graphicFrame>
        <p:nvGraphicFramePr>
          <p:cNvPr id="4" name="Chart 0" descr=""/>
          <p:cNvGraphicFramePr/>
          <p:nvPr/>
        </p:nvGraphicFramePr>
        <p:xfrm>
          <a:off x="7406640" y="1325880"/>
          <a:ext cx="4206240" cy="3291840"/>
        </p:xfrm>
        <a:graphic xmlns:a="http://schemas.openxmlformats.org/drawingml/2006/main">
          <a:graphicData uri="http://schemas.openxmlformats.org/drawingml/2006/chart">
            <c:chart xmlns:c="http://schemas.openxmlformats.org/drawingml/2006/chart" r:id="rId1"/>
          </a:graphicData>
        </a:graphic>
      </p:graphicFrame>
      <p:sp>
        <p:nvSpPr>
          <p:cNvPr id="5" name="capacity circle"/>
          <p:cNvSpPr/>
          <p:nvPr/>
        </p:nvSpPr>
        <p:spPr>
          <a:xfrm>
            <a:off x="548640" y="4023360"/>
            <a:ext cx="640080" cy="640080"/>
          </a:xfrm>
          <a:prstGeom prst="ellipse">
            <a:avLst/>
          </a:prstGeom>
          <a:solidFill>
            <a:srgbClr val="C9A227"/>
          </a:solidFill>
          <a:ln w="12700">
            <a:solidFill>
              <a:srgbClr val="C9A227"/>
            </a:solidFill>
            <a:prstDash val="solid"/>
          </a:ln>
        </p:spPr>
      </p:sp>
      <p:pic>
        <p:nvPicPr>
          <p:cNvPr id="6" name="capacity icon" descr="preencoded.png">    </p:cNvPr>
          <p:cNvPicPr>
            <a:picLocks noChangeAspect="1"/>
          </p:cNvPicPr>
          <p:nvPr/>
        </p:nvPicPr>
        <p:blipFill>
          <a:blip r:embed="rId2"/>
          <a:stretch>
            <a:fillRect/>
          </a:stretch>
        </p:blipFill>
        <p:spPr>
          <a:xfrm>
            <a:off x="708660" y="4183380"/>
            <a:ext cx="320040" cy="320040"/>
          </a:xfrm>
          <a:prstGeom prst="rect">
            <a:avLst/>
          </a:prstGeom>
        </p:spPr>
      </p:pic>
      <p:sp>
        <p:nvSpPr>
          <p:cNvPr id="7" name="Text 2"/>
          <p:cNvSpPr txBox="1"/>
          <p:nvPr/>
        </p:nvSpPr>
        <p:spPr>
          <a:xfrm>
            <a:off x="1371600" y="3977640"/>
            <a:ext cx="5760720" cy="1097280"/>
          </a:xfrm>
          <a:prstGeom prst="rect">
            <a:avLst/>
          </a:prstGeom>
          <a:noFill/>
          <a:ln/>
        </p:spPr>
        <p:txBody>
          <a:bodyPr wrap="square" lIns="0" tIns="0" rIns="0" bIns="0" rtlCol="0" anchor="t"/>
          <a:lstStyle/>
          <a:p>
            <a:pPr indent="0" marL="0">
              <a:buNone/>
            </a:pPr>
            <a:r>
              <a:rPr lang="en-US" sz="1500" b="1" dirty="0">
                <a:solidFill>
                  <a:srgbClr val="0B3D3A"/>
                </a:solidFill>
                <a:latin typeface="Calibri" pitchFamily="34" charset="0"/>
                <a:ea typeface="Calibri" pitchFamily="34" charset="-122"/>
                <a:cs typeface="Calibri" pitchFamily="34" charset="-120"/>
              </a:rPr>
              <a:t>Use the released time two ways: </a:t>
            </a:r>
            <a:pPr indent="0" marL="0">
              <a:buNone/>
            </a:pPr>
            <a:r>
              <a:rPr lang="en-US" sz="1500" dirty="0">
                <a:solidFill>
                  <a:srgbClr val="1F2A2E"/>
                </a:solidFill>
                <a:latin typeface="Calibri" pitchFamily="34" charset="0"/>
                <a:ea typeface="Calibri" pitchFamily="34" charset="-122"/>
                <a:cs typeface="Calibri" pitchFamily="34" charset="-120"/>
              </a:rPr>
              <a:t>absorb busy-season peaks without extra hires or overtime, or redeploy seniors to higher-value review, client advisory and new engagements.</a:t>
            </a:r>
            <a:endParaRPr lang="en-US" sz="1500" dirty="0"/>
          </a:p>
        </p:txBody>
      </p:sp>
      <p:sp>
        <p:nvSpPr>
          <p:cNvPr id="8" name="Text 3"/>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200" i="1" dirty="0">
                <a:solidFill>
                  <a:srgbClr val="5E6E73"/>
                </a:solidFill>
                <a:latin typeface="Calibri" pitchFamily="34" charset="0"/>
                <a:ea typeface="Calibri" pitchFamily="34" charset="-122"/>
                <a:cs typeface="Calibri" pitchFamily="34" charset="-120"/>
              </a:rPr>
              <a:t>Based on the illustrative per-engagement model on the previous slide (21 hours and USD 2,925 saved each); 1,800 working hours per FTE.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0B3D3A"/>
                </a:solidFill>
                <a:latin typeface="Cambria" pitchFamily="34" charset="0"/>
                <a:ea typeface="Cambria" pitchFamily="34" charset="-122"/>
                <a:cs typeface="Cambria" pitchFamily="34" charset="-120"/>
              </a:rPr>
              <a:t>The value goes beyond hours saved</a:t>
            </a:r>
            <a:endParaRPr lang="en-US" sz="3200" dirty="0"/>
          </a:p>
        </p:txBody>
      </p:sp>
      <p:sp>
        <p:nvSpPr>
          <p:cNvPr id="3" name="lever 1 circle"/>
          <p:cNvSpPr/>
          <p:nvPr/>
        </p:nvSpPr>
        <p:spPr>
          <a:xfrm>
            <a:off x="548640" y="1463040"/>
            <a:ext cx="731520" cy="731520"/>
          </a:xfrm>
          <a:prstGeom prst="ellipse">
            <a:avLst/>
          </a:prstGeom>
          <a:solidFill>
            <a:srgbClr val="0B3D3A"/>
          </a:solidFill>
          <a:ln w="12700">
            <a:solidFill>
              <a:srgbClr val="0B3D3A"/>
            </a:solidFill>
            <a:prstDash val="solid"/>
          </a:ln>
        </p:spPr>
      </p:sp>
      <p:pic>
        <p:nvPicPr>
          <p:cNvPr id="4" name="lever 1 icon" descr="preencoded.png">    </p:cNvPr>
          <p:cNvPicPr>
            <a:picLocks noChangeAspect="1"/>
          </p:cNvPicPr>
          <p:nvPr/>
        </p:nvPicPr>
        <p:blipFill>
          <a:blip r:embed="rId1"/>
          <a:stretch>
            <a:fillRect/>
          </a:stretch>
        </p:blipFill>
        <p:spPr>
          <a:xfrm>
            <a:off x="731520" y="1645920"/>
            <a:ext cx="365760" cy="365760"/>
          </a:xfrm>
          <a:prstGeom prst="rect">
            <a:avLst/>
          </a:prstGeom>
        </p:spPr>
      </p:pic>
      <p:sp>
        <p:nvSpPr>
          <p:cNvPr id="5" name="Text 2"/>
          <p:cNvSpPr txBox="1"/>
          <p:nvPr/>
        </p:nvSpPr>
        <p:spPr>
          <a:xfrm>
            <a:off x="548640" y="2331720"/>
            <a:ext cx="3474720" cy="411480"/>
          </a:xfrm>
          <a:prstGeom prst="rect">
            <a:avLst/>
          </a:prstGeom>
          <a:noFill/>
          <a:ln/>
        </p:spPr>
        <p:txBody>
          <a:bodyPr wrap="square" lIns="0" tIns="0" rIns="0" bIns="0" rtlCol="0" anchor="t"/>
          <a:lstStyle/>
          <a:p>
            <a:pPr indent="0" marL="0">
              <a:buNone/>
            </a:pPr>
            <a:r>
              <a:rPr lang="en-US" sz="1800" b="1" dirty="0">
                <a:solidFill>
                  <a:srgbClr val="0B3D3A"/>
                </a:solidFill>
                <a:latin typeface="Calibri" pitchFamily="34" charset="0"/>
                <a:ea typeface="Calibri" pitchFamily="34" charset="-122"/>
                <a:cs typeface="Calibri" pitchFamily="34" charset="-120"/>
              </a:rPr>
              <a:t>Consistent quality</a:t>
            </a:r>
            <a:endParaRPr lang="en-US" sz="1800" dirty="0"/>
          </a:p>
        </p:txBody>
      </p:sp>
      <p:sp>
        <p:nvSpPr>
          <p:cNvPr id="6" name="Text 3"/>
          <p:cNvSpPr txBox="1"/>
          <p:nvPr/>
        </p:nvSpPr>
        <p:spPr>
          <a:xfrm>
            <a:off x="548640" y="2743200"/>
            <a:ext cx="3383280" cy="82296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Every client, every team, the same checks and the same standard of write-up.</a:t>
            </a:r>
            <a:endParaRPr lang="en-US" sz="1400" dirty="0"/>
          </a:p>
        </p:txBody>
      </p:sp>
      <p:sp>
        <p:nvSpPr>
          <p:cNvPr id="7" name="lever 2 circle"/>
          <p:cNvSpPr/>
          <p:nvPr/>
        </p:nvSpPr>
        <p:spPr>
          <a:xfrm>
            <a:off x="4297680" y="1463040"/>
            <a:ext cx="731520" cy="731520"/>
          </a:xfrm>
          <a:prstGeom prst="ellipse">
            <a:avLst/>
          </a:prstGeom>
          <a:solidFill>
            <a:srgbClr val="0B3D3A"/>
          </a:solidFill>
          <a:ln w="12700">
            <a:solidFill>
              <a:srgbClr val="0B3D3A"/>
            </a:solidFill>
            <a:prstDash val="solid"/>
          </a:ln>
        </p:spPr>
      </p:sp>
      <p:pic>
        <p:nvPicPr>
          <p:cNvPr id="8" name="lever 2 icon" descr="preencoded.png">    </p:cNvPr>
          <p:cNvPicPr>
            <a:picLocks noChangeAspect="1"/>
          </p:cNvPicPr>
          <p:nvPr/>
        </p:nvPicPr>
        <p:blipFill>
          <a:blip r:embed="rId2"/>
          <a:stretch>
            <a:fillRect/>
          </a:stretch>
        </p:blipFill>
        <p:spPr>
          <a:xfrm>
            <a:off x="4480560" y="1645920"/>
            <a:ext cx="365760" cy="365760"/>
          </a:xfrm>
          <a:prstGeom prst="rect">
            <a:avLst/>
          </a:prstGeom>
        </p:spPr>
      </p:pic>
      <p:sp>
        <p:nvSpPr>
          <p:cNvPr id="9" name="Text 5"/>
          <p:cNvSpPr txBox="1"/>
          <p:nvPr/>
        </p:nvSpPr>
        <p:spPr>
          <a:xfrm>
            <a:off x="4297680" y="2331720"/>
            <a:ext cx="3474720" cy="411480"/>
          </a:xfrm>
          <a:prstGeom prst="rect">
            <a:avLst/>
          </a:prstGeom>
          <a:noFill/>
          <a:ln/>
        </p:spPr>
        <p:txBody>
          <a:bodyPr wrap="square" lIns="0" tIns="0" rIns="0" bIns="0" rtlCol="0" anchor="t"/>
          <a:lstStyle/>
          <a:p>
            <a:pPr indent="0" marL="0">
              <a:buNone/>
            </a:pPr>
            <a:r>
              <a:rPr lang="en-US" sz="1800" b="1" dirty="0">
                <a:solidFill>
                  <a:srgbClr val="0B3D3A"/>
                </a:solidFill>
                <a:latin typeface="Calibri" pitchFamily="34" charset="0"/>
                <a:ea typeface="Calibri" pitchFamily="34" charset="-122"/>
                <a:cs typeface="Calibri" pitchFamily="34" charset="-120"/>
              </a:rPr>
              <a:t>Faster to the client</a:t>
            </a:r>
            <a:endParaRPr lang="en-US" sz="1800" dirty="0"/>
          </a:p>
        </p:txBody>
      </p:sp>
      <p:sp>
        <p:nvSpPr>
          <p:cNvPr id="10" name="Text 6"/>
          <p:cNvSpPr txBox="1"/>
          <p:nvPr/>
        </p:nvSpPr>
        <p:spPr>
          <a:xfrm>
            <a:off x="4297680" y="2743200"/>
            <a:ext cx="3383280" cy="82296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Validation report first, full package soon after the checkpoint, not weeks later.</a:t>
            </a:r>
            <a:endParaRPr lang="en-US" sz="1400" dirty="0"/>
          </a:p>
        </p:txBody>
      </p:sp>
      <p:sp>
        <p:nvSpPr>
          <p:cNvPr id="11" name="lever 3 circle"/>
          <p:cNvSpPr/>
          <p:nvPr/>
        </p:nvSpPr>
        <p:spPr>
          <a:xfrm>
            <a:off x="8046720" y="1463040"/>
            <a:ext cx="731520" cy="731520"/>
          </a:xfrm>
          <a:prstGeom prst="ellipse">
            <a:avLst/>
          </a:prstGeom>
          <a:solidFill>
            <a:srgbClr val="0B3D3A"/>
          </a:solidFill>
          <a:ln w="12700">
            <a:solidFill>
              <a:srgbClr val="0B3D3A"/>
            </a:solidFill>
            <a:prstDash val="solid"/>
          </a:ln>
        </p:spPr>
      </p:sp>
      <p:pic>
        <p:nvPicPr>
          <p:cNvPr id="12" name="lever 3 icon" descr="preencoded.png">    </p:cNvPr>
          <p:cNvPicPr>
            <a:picLocks noChangeAspect="1"/>
          </p:cNvPicPr>
          <p:nvPr/>
        </p:nvPicPr>
        <p:blipFill>
          <a:blip r:embed="rId3"/>
          <a:stretch>
            <a:fillRect/>
          </a:stretch>
        </p:blipFill>
        <p:spPr>
          <a:xfrm>
            <a:off x="8229600" y="1645920"/>
            <a:ext cx="365760" cy="365760"/>
          </a:xfrm>
          <a:prstGeom prst="rect">
            <a:avLst/>
          </a:prstGeom>
        </p:spPr>
      </p:pic>
      <p:sp>
        <p:nvSpPr>
          <p:cNvPr id="13" name="Text 8"/>
          <p:cNvSpPr txBox="1"/>
          <p:nvPr/>
        </p:nvSpPr>
        <p:spPr>
          <a:xfrm>
            <a:off x="8046720" y="2331720"/>
            <a:ext cx="3474720" cy="411480"/>
          </a:xfrm>
          <a:prstGeom prst="rect">
            <a:avLst/>
          </a:prstGeom>
          <a:noFill/>
          <a:ln/>
        </p:spPr>
        <p:txBody>
          <a:bodyPr wrap="square" lIns="0" tIns="0" rIns="0" bIns="0" rtlCol="0" anchor="t"/>
          <a:lstStyle/>
          <a:p>
            <a:pPr indent="0" marL="0">
              <a:buNone/>
            </a:pPr>
            <a:r>
              <a:rPr lang="en-US" sz="1800" b="1" dirty="0">
                <a:solidFill>
                  <a:srgbClr val="0B3D3A"/>
                </a:solidFill>
                <a:latin typeface="Calibri" pitchFamily="34" charset="0"/>
                <a:ea typeface="Calibri" pitchFamily="34" charset="-122"/>
                <a:cs typeface="Calibri" pitchFamily="34" charset="-120"/>
              </a:rPr>
              <a:t>Better use of people</a:t>
            </a:r>
            <a:endParaRPr lang="en-US" sz="1800" dirty="0"/>
          </a:p>
        </p:txBody>
      </p:sp>
      <p:sp>
        <p:nvSpPr>
          <p:cNvPr id="14" name="Text 9"/>
          <p:cNvSpPr txBox="1"/>
          <p:nvPr/>
        </p:nvSpPr>
        <p:spPr>
          <a:xfrm>
            <a:off x="8046720" y="2743200"/>
            <a:ext cx="3383280" cy="82296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Juniors stop rekeying data; seniors spend time on judgment. Easier retention.</a:t>
            </a:r>
            <a:endParaRPr lang="en-US" sz="1400" dirty="0"/>
          </a:p>
        </p:txBody>
      </p:sp>
      <p:sp>
        <p:nvSpPr>
          <p:cNvPr id="15" name="lever 4 circle"/>
          <p:cNvSpPr/>
          <p:nvPr/>
        </p:nvSpPr>
        <p:spPr>
          <a:xfrm>
            <a:off x="548640" y="3794760"/>
            <a:ext cx="731520" cy="731520"/>
          </a:xfrm>
          <a:prstGeom prst="ellipse">
            <a:avLst/>
          </a:prstGeom>
          <a:solidFill>
            <a:srgbClr val="3E7C74"/>
          </a:solidFill>
          <a:ln w="12700">
            <a:solidFill>
              <a:srgbClr val="3E7C74"/>
            </a:solidFill>
            <a:prstDash val="solid"/>
          </a:ln>
        </p:spPr>
      </p:sp>
      <p:pic>
        <p:nvPicPr>
          <p:cNvPr id="16" name="lever 4 icon" descr="preencoded.png">    </p:cNvPr>
          <p:cNvPicPr>
            <a:picLocks noChangeAspect="1"/>
          </p:cNvPicPr>
          <p:nvPr/>
        </p:nvPicPr>
        <p:blipFill>
          <a:blip r:embed="rId4"/>
          <a:stretch>
            <a:fillRect/>
          </a:stretch>
        </p:blipFill>
        <p:spPr>
          <a:xfrm>
            <a:off x="731520" y="3977640"/>
            <a:ext cx="365760" cy="365760"/>
          </a:xfrm>
          <a:prstGeom prst="rect">
            <a:avLst/>
          </a:prstGeom>
        </p:spPr>
      </p:pic>
      <p:sp>
        <p:nvSpPr>
          <p:cNvPr id="17" name="Text 11"/>
          <p:cNvSpPr txBox="1"/>
          <p:nvPr/>
        </p:nvSpPr>
        <p:spPr>
          <a:xfrm>
            <a:off x="548640" y="4663440"/>
            <a:ext cx="3474720" cy="411480"/>
          </a:xfrm>
          <a:prstGeom prst="rect">
            <a:avLst/>
          </a:prstGeom>
          <a:noFill/>
          <a:ln/>
        </p:spPr>
        <p:txBody>
          <a:bodyPr wrap="square" lIns="0" tIns="0" rIns="0" bIns="0" rtlCol="0" anchor="t"/>
          <a:lstStyle/>
          <a:p>
            <a:pPr indent="0" marL="0">
              <a:buNone/>
            </a:pPr>
            <a:r>
              <a:rPr lang="en-US" sz="1800" b="1" dirty="0">
                <a:solidFill>
                  <a:srgbClr val="0B3D3A"/>
                </a:solidFill>
                <a:latin typeface="Calibri" pitchFamily="34" charset="0"/>
                <a:ea typeface="Calibri" pitchFamily="34" charset="-122"/>
                <a:cs typeface="Calibri" pitchFamily="34" charset="-120"/>
              </a:rPr>
              <a:t>New advisory revenue</a:t>
            </a:r>
            <a:endParaRPr lang="en-US" sz="1800" dirty="0"/>
          </a:p>
        </p:txBody>
      </p:sp>
      <p:sp>
        <p:nvSpPr>
          <p:cNvPr id="18" name="Text 12"/>
          <p:cNvSpPr txBox="1"/>
          <p:nvPr/>
        </p:nvSpPr>
        <p:spPr>
          <a:xfrm>
            <a:off x="548640" y="5074920"/>
            <a:ext cx="3383280" cy="82296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Offer monthly or quarterly business-review packages as a recurring service.</a:t>
            </a:r>
            <a:endParaRPr lang="en-US" sz="1400" dirty="0"/>
          </a:p>
        </p:txBody>
      </p:sp>
      <p:sp>
        <p:nvSpPr>
          <p:cNvPr id="19" name="lever 5 circle"/>
          <p:cNvSpPr/>
          <p:nvPr/>
        </p:nvSpPr>
        <p:spPr>
          <a:xfrm>
            <a:off x="4297680" y="3794760"/>
            <a:ext cx="731520" cy="731520"/>
          </a:xfrm>
          <a:prstGeom prst="ellipse">
            <a:avLst/>
          </a:prstGeom>
          <a:solidFill>
            <a:srgbClr val="3E7C74"/>
          </a:solidFill>
          <a:ln w="12700">
            <a:solidFill>
              <a:srgbClr val="3E7C74"/>
            </a:solidFill>
            <a:prstDash val="solid"/>
          </a:ln>
        </p:spPr>
      </p:sp>
      <p:pic>
        <p:nvPicPr>
          <p:cNvPr id="20" name="lever 5 icon" descr="preencoded.png">    </p:cNvPr>
          <p:cNvPicPr>
            <a:picLocks noChangeAspect="1"/>
          </p:cNvPicPr>
          <p:nvPr/>
        </p:nvPicPr>
        <p:blipFill>
          <a:blip r:embed="rId5"/>
          <a:stretch>
            <a:fillRect/>
          </a:stretch>
        </p:blipFill>
        <p:spPr>
          <a:xfrm>
            <a:off x="4480560" y="3977640"/>
            <a:ext cx="365760" cy="365760"/>
          </a:xfrm>
          <a:prstGeom prst="rect">
            <a:avLst/>
          </a:prstGeom>
        </p:spPr>
      </p:pic>
      <p:sp>
        <p:nvSpPr>
          <p:cNvPr id="21" name="Text 14"/>
          <p:cNvSpPr txBox="1"/>
          <p:nvPr/>
        </p:nvSpPr>
        <p:spPr>
          <a:xfrm>
            <a:off x="4297680" y="4663440"/>
            <a:ext cx="3474720" cy="411480"/>
          </a:xfrm>
          <a:prstGeom prst="rect">
            <a:avLst/>
          </a:prstGeom>
          <a:noFill/>
          <a:ln/>
        </p:spPr>
        <p:txBody>
          <a:bodyPr wrap="square" lIns="0" tIns="0" rIns="0" bIns="0" rtlCol="0" anchor="t"/>
          <a:lstStyle/>
          <a:p>
            <a:pPr indent="0" marL="0">
              <a:buNone/>
            </a:pPr>
            <a:r>
              <a:rPr lang="en-US" sz="1800" b="1" dirty="0">
                <a:solidFill>
                  <a:srgbClr val="0B3D3A"/>
                </a:solidFill>
                <a:latin typeface="Calibri" pitchFamily="34" charset="0"/>
                <a:ea typeface="Calibri" pitchFamily="34" charset="-122"/>
                <a:cs typeface="Calibri" pitchFamily="34" charset="-120"/>
              </a:rPr>
              <a:t>Scales with complexity</a:t>
            </a:r>
            <a:endParaRPr lang="en-US" sz="1800" dirty="0"/>
          </a:p>
        </p:txBody>
      </p:sp>
      <p:sp>
        <p:nvSpPr>
          <p:cNvPr id="22" name="Text 15"/>
          <p:cNvSpPr txBox="1"/>
          <p:nvPr/>
        </p:nvSpPr>
        <p:spPr>
          <a:xfrm>
            <a:off x="4297680" y="5074920"/>
            <a:ext cx="3383280" cy="82296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Multi-entity, multi-currency, multi-standard groups without extra headcount.</a:t>
            </a:r>
            <a:endParaRPr lang="en-US" sz="1400" dirty="0"/>
          </a:p>
        </p:txBody>
      </p:sp>
      <p:sp>
        <p:nvSpPr>
          <p:cNvPr id="23" name="lever 6 circle"/>
          <p:cNvSpPr/>
          <p:nvPr/>
        </p:nvSpPr>
        <p:spPr>
          <a:xfrm>
            <a:off x="8046720" y="3794760"/>
            <a:ext cx="731520" cy="731520"/>
          </a:xfrm>
          <a:prstGeom prst="ellipse">
            <a:avLst/>
          </a:prstGeom>
          <a:solidFill>
            <a:srgbClr val="3E7C74"/>
          </a:solidFill>
          <a:ln w="12700">
            <a:solidFill>
              <a:srgbClr val="3E7C74"/>
            </a:solidFill>
            <a:prstDash val="solid"/>
          </a:ln>
        </p:spPr>
      </p:sp>
      <p:pic>
        <p:nvPicPr>
          <p:cNvPr id="24" name="lever 6 icon" descr="preencoded.png">    </p:cNvPr>
          <p:cNvPicPr>
            <a:picLocks noChangeAspect="1"/>
          </p:cNvPicPr>
          <p:nvPr/>
        </p:nvPicPr>
        <p:blipFill>
          <a:blip r:embed="rId6"/>
          <a:stretch>
            <a:fillRect/>
          </a:stretch>
        </p:blipFill>
        <p:spPr>
          <a:xfrm>
            <a:off x="8229600" y="3977640"/>
            <a:ext cx="365760" cy="365760"/>
          </a:xfrm>
          <a:prstGeom prst="rect">
            <a:avLst/>
          </a:prstGeom>
        </p:spPr>
      </p:pic>
      <p:sp>
        <p:nvSpPr>
          <p:cNvPr id="25" name="Text 17"/>
          <p:cNvSpPr txBox="1"/>
          <p:nvPr/>
        </p:nvSpPr>
        <p:spPr>
          <a:xfrm>
            <a:off x="8046720" y="4663440"/>
            <a:ext cx="3474720" cy="411480"/>
          </a:xfrm>
          <a:prstGeom prst="rect">
            <a:avLst/>
          </a:prstGeom>
          <a:noFill/>
          <a:ln/>
        </p:spPr>
        <p:txBody>
          <a:bodyPr wrap="square" lIns="0" tIns="0" rIns="0" bIns="0" rtlCol="0" anchor="t"/>
          <a:lstStyle/>
          <a:p>
            <a:pPr indent="0" marL="0">
              <a:buNone/>
            </a:pPr>
            <a:r>
              <a:rPr lang="en-US" sz="1800" b="1" dirty="0">
                <a:solidFill>
                  <a:srgbClr val="0B3D3A"/>
                </a:solidFill>
                <a:latin typeface="Calibri" pitchFamily="34" charset="0"/>
                <a:ea typeface="Calibri" pitchFamily="34" charset="-122"/>
                <a:cs typeface="Calibri" pitchFamily="34" charset="-120"/>
              </a:rPr>
              <a:t>Lower engagement risk</a:t>
            </a:r>
            <a:endParaRPr lang="en-US" sz="1800" dirty="0"/>
          </a:p>
        </p:txBody>
      </p:sp>
      <p:sp>
        <p:nvSpPr>
          <p:cNvPr id="26" name="Text 18"/>
          <p:cNvSpPr txBox="1"/>
          <p:nvPr/>
        </p:nvSpPr>
        <p:spPr>
          <a:xfrm>
            <a:off x="8046720" y="5074920"/>
            <a:ext cx="3383280" cy="82296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Red flags surfaced and documented early, with an audit trail for every call.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0B3D3A"/>
                </a:solidFill>
                <a:latin typeface="Cambria" pitchFamily="34" charset="0"/>
                <a:ea typeface="Cambria" pitchFamily="34" charset="-122"/>
                <a:cs typeface="Cambria" pitchFamily="34" charset="-120"/>
              </a:rPr>
              <a:t>Where it fits in your firm</a:t>
            </a:r>
            <a:endParaRPr lang="en-US" sz="3200" dirty="0"/>
          </a:p>
        </p:txBody>
      </p:sp>
      <p:sp>
        <p:nvSpPr>
          <p:cNvPr id="3" name="use card 1"/>
          <p:cNvSpPr/>
          <p:nvPr/>
        </p:nvSpPr>
        <p:spPr>
          <a:xfrm>
            <a:off x="548640" y="1463040"/>
            <a:ext cx="5440680" cy="1371600"/>
          </a:xfrm>
          <a:prstGeom prst="roundRect">
            <a:avLst>
              <a:gd name="adj" fmla="val 8000"/>
            </a:avLst>
          </a:prstGeom>
          <a:solidFill>
            <a:srgbClr val="EEF4F2"/>
          </a:solidFill>
          <a:ln w="12700">
            <a:solidFill>
              <a:srgbClr val="EEF4F2"/>
            </a:solidFill>
            <a:prstDash val="solid"/>
          </a:ln>
        </p:spPr>
      </p:sp>
      <p:sp>
        <p:nvSpPr>
          <p:cNvPr id="4" name="Text 2"/>
          <p:cNvSpPr txBox="1"/>
          <p:nvPr/>
        </p:nvSpPr>
        <p:spPr>
          <a:xfrm>
            <a:off x="777240" y="1737360"/>
            <a:ext cx="822960" cy="731520"/>
          </a:xfrm>
          <a:prstGeom prst="rect">
            <a:avLst/>
          </a:prstGeom>
          <a:noFill/>
          <a:ln/>
        </p:spPr>
        <p:txBody>
          <a:bodyPr wrap="square" lIns="0" tIns="0" rIns="0" bIns="0" rtlCol="0" anchor="t"/>
          <a:lstStyle/>
          <a:p>
            <a:pPr indent="0" marL="0">
              <a:buNone/>
            </a:pPr>
            <a:r>
              <a:rPr lang="en-US" sz="3400" b="1" dirty="0">
                <a:solidFill>
                  <a:srgbClr val="C9A227"/>
                </a:solidFill>
                <a:latin typeface="Cambria" pitchFamily="34" charset="0"/>
                <a:ea typeface="Cambria" pitchFamily="34" charset="-122"/>
                <a:cs typeface="Cambria" pitchFamily="34" charset="-120"/>
              </a:rPr>
              <a:t>01</a:t>
            </a:r>
            <a:endParaRPr lang="en-US" sz="3400" dirty="0"/>
          </a:p>
        </p:txBody>
      </p:sp>
      <p:sp>
        <p:nvSpPr>
          <p:cNvPr id="5" name="Text 3"/>
          <p:cNvSpPr txBox="1"/>
          <p:nvPr/>
        </p:nvSpPr>
        <p:spPr>
          <a:xfrm>
            <a:off x="1691640" y="1664208"/>
            <a:ext cx="4114800" cy="365760"/>
          </a:xfrm>
          <a:prstGeom prst="rect">
            <a:avLst/>
          </a:prstGeom>
          <a:noFill/>
          <a:ln/>
        </p:spPr>
        <p:txBody>
          <a:bodyPr wrap="square" lIns="0" tIns="0" rIns="0" bIns="0" rtlCol="0" anchor="t"/>
          <a:lstStyle/>
          <a:p>
            <a:pPr indent="0" marL="0">
              <a:buNone/>
            </a:pPr>
            <a:r>
              <a:rPr lang="en-US" sz="1700" b="1" dirty="0">
                <a:solidFill>
                  <a:srgbClr val="0B3D3A"/>
                </a:solidFill>
                <a:latin typeface="Calibri" pitchFamily="34" charset="0"/>
                <a:ea typeface="Calibri" pitchFamily="34" charset="-122"/>
                <a:cs typeface="Calibri" pitchFamily="34" charset="-120"/>
              </a:rPr>
              <a:t>Audit planning</a:t>
            </a:r>
            <a:endParaRPr lang="en-US" sz="1700" dirty="0"/>
          </a:p>
        </p:txBody>
      </p:sp>
      <p:sp>
        <p:nvSpPr>
          <p:cNvPr id="6" name="Text 4"/>
          <p:cNvSpPr txBox="1"/>
          <p:nvPr/>
        </p:nvSpPr>
        <p:spPr>
          <a:xfrm>
            <a:off x="1691640" y="2057400"/>
            <a:ext cx="4114800" cy="68580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Preliminary analytics and risk identification from the client's first data dump</a:t>
            </a:r>
            <a:endParaRPr lang="en-US" sz="1400" dirty="0"/>
          </a:p>
        </p:txBody>
      </p:sp>
      <p:sp>
        <p:nvSpPr>
          <p:cNvPr id="7" name="use card 2"/>
          <p:cNvSpPr/>
          <p:nvPr/>
        </p:nvSpPr>
        <p:spPr>
          <a:xfrm>
            <a:off x="6172200" y="1463040"/>
            <a:ext cx="5440680" cy="1371600"/>
          </a:xfrm>
          <a:prstGeom prst="roundRect">
            <a:avLst>
              <a:gd name="adj" fmla="val 8000"/>
            </a:avLst>
          </a:prstGeom>
          <a:solidFill>
            <a:srgbClr val="FFFFFF"/>
          </a:solidFill>
          <a:ln w="12700">
            <a:solidFill>
              <a:srgbClr val="FFFFFF"/>
            </a:solidFill>
            <a:prstDash val="solid"/>
          </a:ln>
        </p:spPr>
      </p:sp>
      <p:sp>
        <p:nvSpPr>
          <p:cNvPr id="8" name="use outline 2"/>
          <p:cNvSpPr/>
          <p:nvPr/>
        </p:nvSpPr>
        <p:spPr>
          <a:xfrm>
            <a:off x="6172200" y="1463040"/>
            <a:ext cx="5440680" cy="1371600"/>
          </a:xfrm>
          <a:prstGeom prst="roundRect">
            <a:avLst>
              <a:gd name="adj" fmla="val 8000"/>
            </a:avLst>
          </a:prstGeom>
          <a:solidFill>
            <a:srgbClr val="FFFFFF"/>
          </a:solidFill>
          <a:ln w="12700">
            <a:solidFill>
              <a:srgbClr val="D5E2DF"/>
            </a:solidFill>
            <a:prstDash val="solid"/>
          </a:ln>
        </p:spPr>
      </p:sp>
      <p:sp>
        <p:nvSpPr>
          <p:cNvPr id="9" name="Text 7"/>
          <p:cNvSpPr txBox="1"/>
          <p:nvPr/>
        </p:nvSpPr>
        <p:spPr>
          <a:xfrm>
            <a:off x="6400800" y="1737360"/>
            <a:ext cx="822960" cy="731520"/>
          </a:xfrm>
          <a:prstGeom prst="rect">
            <a:avLst/>
          </a:prstGeom>
          <a:noFill/>
          <a:ln/>
        </p:spPr>
        <p:txBody>
          <a:bodyPr wrap="square" lIns="0" tIns="0" rIns="0" bIns="0" rtlCol="0" anchor="t"/>
          <a:lstStyle/>
          <a:p>
            <a:pPr indent="0" marL="0">
              <a:buNone/>
            </a:pPr>
            <a:r>
              <a:rPr lang="en-US" sz="3400" b="1" dirty="0">
                <a:solidFill>
                  <a:srgbClr val="C9A227"/>
                </a:solidFill>
                <a:latin typeface="Cambria" pitchFamily="34" charset="0"/>
                <a:ea typeface="Cambria" pitchFamily="34" charset="-122"/>
                <a:cs typeface="Cambria" pitchFamily="34" charset="-120"/>
              </a:rPr>
              <a:t>02</a:t>
            </a:r>
            <a:endParaRPr lang="en-US" sz="3400" dirty="0"/>
          </a:p>
        </p:txBody>
      </p:sp>
      <p:sp>
        <p:nvSpPr>
          <p:cNvPr id="10" name="Text 8"/>
          <p:cNvSpPr txBox="1"/>
          <p:nvPr/>
        </p:nvSpPr>
        <p:spPr>
          <a:xfrm>
            <a:off x="7315200" y="1664208"/>
            <a:ext cx="4114800" cy="365760"/>
          </a:xfrm>
          <a:prstGeom prst="rect">
            <a:avLst/>
          </a:prstGeom>
          <a:noFill/>
          <a:ln/>
        </p:spPr>
        <p:txBody>
          <a:bodyPr wrap="square" lIns="0" tIns="0" rIns="0" bIns="0" rtlCol="0" anchor="t"/>
          <a:lstStyle/>
          <a:p>
            <a:pPr indent="0" marL="0">
              <a:buNone/>
            </a:pPr>
            <a:r>
              <a:rPr lang="en-US" sz="1700" b="1" dirty="0">
                <a:solidFill>
                  <a:srgbClr val="0B3D3A"/>
                </a:solidFill>
                <a:latin typeface="Calibri" pitchFamily="34" charset="0"/>
                <a:ea typeface="Calibri" pitchFamily="34" charset="-122"/>
                <a:cs typeface="Calibri" pitchFamily="34" charset="-120"/>
              </a:rPr>
              <a:t>Final analytical review</a:t>
            </a:r>
            <a:endParaRPr lang="en-US" sz="1700" dirty="0"/>
          </a:p>
        </p:txBody>
      </p:sp>
      <p:sp>
        <p:nvSpPr>
          <p:cNvPr id="11" name="Text 9"/>
          <p:cNvSpPr txBox="1"/>
          <p:nvPr/>
        </p:nvSpPr>
        <p:spPr>
          <a:xfrm>
            <a:off x="7315200" y="2057400"/>
            <a:ext cx="4114800" cy="68580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Variance explanations against budget, trend and thresholds</a:t>
            </a:r>
            <a:endParaRPr lang="en-US" sz="1400" dirty="0"/>
          </a:p>
        </p:txBody>
      </p:sp>
      <p:sp>
        <p:nvSpPr>
          <p:cNvPr id="12" name="use card 3"/>
          <p:cNvSpPr/>
          <p:nvPr/>
        </p:nvSpPr>
        <p:spPr>
          <a:xfrm>
            <a:off x="548640" y="3017520"/>
            <a:ext cx="5440680" cy="1371600"/>
          </a:xfrm>
          <a:prstGeom prst="roundRect">
            <a:avLst>
              <a:gd name="adj" fmla="val 8000"/>
            </a:avLst>
          </a:prstGeom>
          <a:solidFill>
            <a:srgbClr val="EEF4F2"/>
          </a:solidFill>
          <a:ln w="12700">
            <a:solidFill>
              <a:srgbClr val="EEF4F2"/>
            </a:solidFill>
            <a:prstDash val="solid"/>
          </a:ln>
        </p:spPr>
      </p:sp>
      <p:sp>
        <p:nvSpPr>
          <p:cNvPr id="13" name="Text 11"/>
          <p:cNvSpPr txBox="1"/>
          <p:nvPr/>
        </p:nvSpPr>
        <p:spPr>
          <a:xfrm>
            <a:off x="777240" y="3291840"/>
            <a:ext cx="822960" cy="731520"/>
          </a:xfrm>
          <a:prstGeom prst="rect">
            <a:avLst/>
          </a:prstGeom>
          <a:noFill/>
          <a:ln/>
        </p:spPr>
        <p:txBody>
          <a:bodyPr wrap="square" lIns="0" tIns="0" rIns="0" bIns="0" rtlCol="0" anchor="t"/>
          <a:lstStyle/>
          <a:p>
            <a:pPr indent="0" marL="0">
              <a:buNone/>
            </a:pPr>
            <a:r>
              <a:rPr lang="en-US" sz="3400" b="1" dirty="0">
                <a:solidFill>
                  <a:srgbClr val="C9A227"/>
                </a:solidFill>
                <a:latin typeface="Cambria" pitchFamily="34" charset="0"/>
                <a:ea typeface="Cambria" pitchFamily="34" charset="-122"/>
                <a:cs typeface="Cambria" pitchFamily="34" charset="-120"/>
              </a:rPr>
              <a:t>03</a:t>
            </a:r>
            <a:endParaRPr lang="en-US" sz="3400" dirty="0"/>
          </a:p>
        </p:txBody>
      </p:sp>
      <p:sp>
        <p:nvSpPr>
          <p:cNvPr id="14" name="Text 12"/>
          <p:cNvSpPr txBox="1"/>
          <p:nvPr/>
        </p:nvSpPr>
        <p:spPr>
          <a:xfrm>
            <a:off x="1691640" y="3218688"/>
            <a:ext cx="4114800" cy="365760"/>
          </a:xfrm>
          <a:prstGeom prst="rect">
            <a:avLst/>
          </a:prstGeom>
          <a:noFill/>
          <a:ln/>
        </p:spPr>
        <p:txBody>
          <a:bodyPr wrap="square" lIns="0" tIns="0" rIns="0" bIns="0" rtlCol="0" anchor="t"/>
          <a:lstStyle/>
          <a:p>
            <a:pPr indent="0" marL="0">
              <a:buNone/>
            </a:pPr>
            <a:r>
              <a:rPr lang="en-US" sz="1700" b="1" dirty="0">
                <a:solidFill>
                  <a:srgbClr val="0B3D3A"/>
                </a:solidFill>
                <a:latin typeface="Calibri" pitchFamily="34" charset="0"/>
                <a:ea typeface="Calibri" pitchFamily="34" charset="-122"/>
                <a:cs typeface="Calibri" pitchFamily="34" charset="-120"/>
              </a:rPr>
              <a:t>Going-concern work</a:t>
            </a:r>
            <a:endParaRPr lang="en-US" sz="1700" dirty="0"/>
          </a:p>
        </p:txBody>
      </p:sp>
      <p:sp>
        <p:nvSpPr>
          <p:cNvPr id="15" name="Text 13"/>
          <p:cNvSpPr txBox="1"/>
          <p:nvPr/>
        </p:nvSpPr>
        <p:spPr>
          <a:xfrm>
            <a:off x="1691640" y="3611880"/>
            <a:ext cx="4114800" cy="68580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Covenant recompute, maturity ladder, liquidity and indicator checklist</a:t>
            </a:r>
            <a:endParaRPr lang="en-US" sz="1400" dirty="0"/>
          </a:p>
        </p:txBody>
      </p:sp>
      <p:sp>
        <p:nvSpPr>
          <p:cNvPr id="16" name="use card 4"/>
          <p:cNvSpPr/>
          <p:nvPr/>
        </p:nvSpPr>
        <p:spPr>
          <a:xfrm>
            <a:off x="6172200" y="3017520"/>
            <a:ext cx="5440680" cy="1371600"/>
          </a:xfrm>
          <a:prstGeom prst="roundRect">
            <a:avLst>
              <a:gd name="adj" fmla="val 8000"/>
            </a:avLst>
          </a:prstGeom>
          <a:solidFill>
            <a:srgbClr val="FFFFFF"/>
          </a:solidFill>
          <a:ln w="12700">
            <a:solidFill>
              <a:srgbClr val="FFFFFF"/>
            </a:solidFill>
            <a:prstDash val="solid"/>
          </a:ln>
        </p:spPr>
      </p:sp>
      <p:sp>
        <p:nvSpPr>
          <p:cNvPr id="17" name="use outline 4"/>
          <p:cNvSpPr/>
          <p:nvPr/>
        </p:nvSpPr>
        <p:spPr>
          <a:xfrm>
            <a:off x="6172200" y="3017520"/>
            <a:ext cx="5440680" cy="1371600"/>
          </a:xfrm>
          <a:prstGeom prst="roundRect">
            <a:avLst>
              <a:gd name="adj" fmla="val 8000"/>
            </a:avLst>
          </a:prstGeom>
          <a:solidFill>
            <a:srgbClr val="FFFFFF"/>
          </a:solidFill>
          <a:ln w="12700">
            <a:solidFill>
              <a:srgbClr val="D5E2DF"/>
            </a:solidFill>
            <a:prstDash val="solid"/>
          </a:ln>
        </p:spPr>
      </p:sp>
      <p:sp>
        <p:nvSpPr>
          <p:cNvPr id="18" name="Text 16"/>
          <p:cNvSpPr txBox="1"/>
          <p:nvPr/>
        </p:nvSpPr>
        <p:spPr>
          <a:xfrm>
            <a:off x="6400800" y="3291840"/>
            <a:ext cx="822960" cy="731520"/>
          </a:xfrm>
          <a:prstGeom prst="rect">
            <a:avLst/>
          </a:prstGeom>
          <a:noFill/>
          <a:ln/>
        </p:spPr>
        <p:txBody>
          <a:bodyPr wrap="square" lIns="0" tIns="0" rIns="0" bIns="0" rtlCol="0" anchor="t"/>
          <a:lstStyle/>
          <a:p>
            <a:pPr indent="0" marL="0">
              <a:buNone/>
            </a:pPr>
            <a:r>
              <a:rPr lang="en-US" sz="3400" b="1" dirty="0">
                <a:solidFill>
                  <a:srgbClr val="C9A227"/>
                </a:solidFill>
                <a:latin typeface="Cambria" pitchFamily="34" charset="0"/>
                <a:ea typeface="Cambria" pitchFamily="34" charset="-122"/>
                <a:cs typeface="Cambria" pitchFamily="34" charset="-120"/>
              </a:rPr>
              <a:t>04</a:t>
            </a:r>
            <a:endParaRPr lang="en-US" sz="3400" dirty="0"/>
          </a:p>
        </p:txBody>
      </p:sp>
      <p:sp>
        <p:nvSpPr>
          <p:cNvPr id="19" name="Text 17"/>
          <p:cNvSpPr txBox="1"/>
          <p:nvPr/>
        </p:nvSpPr>
        <p:spPr>
          <a:xfrm>
            <a:off x="7315200" y="3218688"/>
            <a:ext cx="4114800" cy="365760"/>
          </a:xfrm>
          <a:prstGeom prst="rect">
            <a:avLst/>
          </a:prstGeom>
          <a:noFill/>
          <a:ln/>
        </p:spPr>
        <p:txBody>
          <a:bodyPr wrap="square" lIns="0" tIns="0" rIns="0" bIns="0" rtlCol="0" anchor="t"/>
          <a:lstStyle/>
          <a:p>
            <a:pPr indent="0" marL="0">
              <a:buNone/>
            </a:pPr>
            <a:r>
              <a:rPr lang="en-US" sz="1700" b="1" dirty="0">
                <a:solidFill>
                  <a:srgbClr val="0B3D3A"/>
                </a:solidFill>
                <a:latin typeface="Calibri" pitchFamily="34" charset="0"/>
                <a:ea typeface="Calibri" pitchFamily="34" charset="-122"/>
                <a:cs typeface="Calibri" pitchFamily="34" charset="-120"/>
              </a:rPr>
              <a:t>Group audits</a:t>
            </a:r>
            <a:endParaRPr lang="en-US" sz="1700" dirty="0"/>
          </a:p>
        </p:txBody>
      </p:sp>
      <p:sp>
        <p:nvSpPr>
          <p:cNvPr id="20" name="Text 18"/>
          <p:cNvSpPr txBox="1"/>
          <p:nvPr/>
        </p:nvSpPr>
        <p:spPr>
          <a:xfrm>
            <a:off x="7315200" y="3611880"/>
            <a:ext cx="4114800" cy="68580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Consolidation view across entities, currencies and standards</a:t>
            </a:r>
            <a:endParaRPr lang="en-US" sz="1400" dirty="0"/>
          </a:p>
        </p:txBody>
      </p:sp>
      <p:sp>
        <p:nvSpPr>
          <p:cNvPr id="21" name="use card 5"/>
          <p:cNvSpPr/>
          <p:nvPr/>
        </p:nvSpPr>
        <p:spPr>
          <a:xfrm>
            <a:off x="548640" y="4572000"/>
            <a:ext cx="5440680" cy="1371600"/>
          </a:xfrm>
          <a:prstGeom prst="roundRect">
            <a:avLst>
              <a:gd name="adj" fmla="val 8000"/>
            </a:avLst>
          </a:prstGeom>
          <a:solidFill>
            <a:srgbClr val="EEF4F2"/>
          </a:solidFill>
          <a:ln w="12700">
            <a:solidFill>
              <a:srgbClr val="EEF4F2"/>
            </a:solidFill>
            <a:prstDash val="solid"/>
          </a:ln>
        </p:spPr>
      </p:sp>
      <p:sp>
        <p:nvSpPr>
          <p:cNvPr id="22" name="Text 20"/>
          <p:cNvSpPr txBox="1"/>
          <p:nvPr/>
        </p:nvSpPr>
        <p:spPr>
          <a:xfrm>
            <a:off x="777240" y="4846320"/>
            <a:ext cx="822960" cy="731520"/>
          </a:xfrm>
          <a:prstGeom prst="rect">
            <a:avLst/>
          </a:prstGeom>
          <a:noFill/>
          <a:ln/>
        </p:spPr>
        <p:txBody>
          <a:bodyPr wrap="square" lIns="0" tIns="0" rIns="0" bIns="0" rtlCol="0" anchor="t"/>
          <a:lstStyle/>
          <a:p>
            <a:pPr indent="0" marL="0">
              <a:buNone/>
            </a:pPr>
            <a:r>
              <a:rPr lang="en-US" sz="3400" b="1" dirty="0">
                <a:solidFill>
                  <a:srgbClr val="C9A227"/>
                </a:solidFill>
                <a:latin typeface="Cambria" pitchFamily="34" charset="0"/>
                <a:ea typeface="Cambria" pitchFamily="34" charset="-122"/>
                <a:cs typeface="Cambria" pitchFamily="34" charset="-120"/>
              </a:rPr>
              <a:t>05</a:t>
            </a:r>
            <a:endParaRPr lang="en-US" sz="3400" dirty="0"/>
          </a:p>
        </p:txBody>
      </p:sp>
      <p:sp>
        <p:nvSpPr>
          <p:cNvPr id="23" name="Text 21"/>
          <p:cNvSpPr txBox="1"/>
          <p:nvPr/>
        </p:nvSpPr>
        <p:spPr>
          <a:xfrm>
            <a:off x="1691640" y="4773168"/>
            <a:ext cx="4114800" cy="365760"/>
          </a:xfrm>
          <a:prstGeom prst="rect">
            <a:avLst/>
          </a:prstGeom>
          <a:noFill/>
          <a:ln/>
        </p:spPr>
        <p:txBody>
          <a:bodyPr wrap="square" lIns="0" tIns="0" rIns="0" bIns="0" rtlCol="0" anchor="t"/>
          <a:lstStyle/>
          <a:p>
            <a:pPr indent="0" marL="0">
              <a:buNone/>
            </a:pPr>
            <a:r>
              <a:rPr lang="en-US" sz="1700" b="1" dirty="0">
                <a:solidFill>
                  <a:srgbClr val="0B3D3A"/>
                </a:solidFill>
                <a:latin typeface="Calibri" pitchFamily="34" charset="0"/>
                <a:ea typeface="Calibri" pitchFamily="34" charset="-122"/>
                <a:cs typeface="Calibri" pitchFamily="34" charset="-120"/>
              </a:rPr>
              <a:t>Client advisory</a:t>
            </a:r>
            <a:endParaRPr lang="en-US" sz="1700" dirty="0"/>
          </a:p>
        </p:txBody>
      </p:sp>
      <p:sp>
        <p:nvSpPr>
          <p:cNvPr id="24" name="Text 22"/>
          <p:cNvSpPr txBox="1"/>
          <p:nvPr/>
        </p:nvSpPr>
        <p:spPr>
          <a:xfrm>
            <a:off x="1691640" y="5166360"/>
            <a:ext cx="4114800" cy="68580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Recurring MBR / QBR / annual board packages for owner-managed clients</a:t>
            </a:r>
            <a:endParaRPr lang="en-US" sz="1400" dirty="0"/>
          </a:p>
        </p:txBody>
      </p:sp>
      <p:sp>
        <p:nvSpPr>
          <p:cNvPr id="25" name="use card 6"/>
          <p:cNvSpPr/>
          <p:nvPr/>
        </p:nvSpPr>
        <p:spPr>
          <a:xfrm>
            <a:off x="6172200" y="4572000"/>
            <a:ext cx="5440680" cy="1371600"/>
          </a:xfrm>
          <a:prstGeom prst="roundRect">
            <a:avLst>
              <a:gd name="adj" fmla="val 8000"/>
            </a:avLst>
          </a:prstGeom>
          <a:solidFill>
            <a:srgbClr val="FFFFFF"/>
          </a:solidFill>
          <a:ln w="12700">
            <a:solidFill>
              <a:srgbClr val="FFFFFF"/>
            </a:solidFill>
            <a:prstDash val="solid"/>
          </a:ln>
        </p:spPr>
      </p:sp>
      <p:sp>
        <p:nvSpPr>
          <p:cNvPr id="26" name="use outline 6"/>
          <p:cNvSpPr/>
          <p:nvPr/>
        </p:nvSpPr>
        <p:spPr>
          <a:xfrm>
            <a:off x="6172200" y="4572000"/>
            <a:ext cx="5440680" cy="1371600"/>
          </a:xfrm>
          <a:prstGeom prst="roundRect">
            <a:avLst>
              <a:gd name="adj" fmla="val 8000"/>
            </a:avLst>
          </a:prstGeom>
          <a:solidFill>
            <a:srgbClr val="FFFFFF"/>
          </a:solidFill>
          <a:ln w="12700">
            <a:solidFill>
              <a:srgbClr val="D5E2DF"/>
            </a:solidFill>
            <a:prstDash val="solid"/>
          </a:ln>
        </p:spPr>
      </p:sp>
      <p:sp>
        <p:nvSpPr>
          <p:cNvPr id="27" name="Text 25"/>
          <p:cNvSpPr txBox="1"/>
          <p:nvPr/>
        </p:nvSpPr>
        <p:spPr>
          <a:xfrm>
            <a:off x="6400800" y="4846320"/>
            <a:ext cx="822960" cy="731520"/>
          </a:xfrm>
          <a:prstGeom prst="rect">
            <a:avLst/>
          </a:prstGeom>
          <a:noFill/>
          <a:ln/>
        </p:spPr>
        <p:txBody>
          <a:bodyPr wrap="square" lIns="0" tIns="0" rIns="0" bIns="0" rtlCol="0" anchor="t"/>
          <a:lstStyle/>
          <a:p>
            <a:pPr indent="0" marL="0">
              <a:buNone/>
            </a:pPr>
            <a:r>
              <a:rPr lang="en-US" sz="3400" b="1" dirty="0">
                <a:solidFill>
                  <a:srgbClr val="C9A227"/>
                </a:solidFill>
                <a:latin typeface="Cambria" pitchFamily="34" charset="0"/>
                <a:ea typeface="Cambria" pitchFamily="34" charset="-122"/>
                <a:cs typeface="Cambria" pitchFamily="34" charset="-120"/>
              </a:rPr>
              <a:t>06</a:t>
            </a:r>
            <a:endParaRPr lang="en-US" sz="3400" dirty="0"/>
          </a:p>
        </p:txBody>
      </p:sp>
      <p:sp>
        <p:nvSpPr>
          <p:cNvPr id="28" name="Text 26"/>
          <p:cNvSpPr txBox="1"/>
          <p:nvPr/>
        </p:nvSpPr>
        <p:spPr>
          <a:xfrm>
            <a:off x="7315200" y="4773168"/>
            <a:ext cx="4114800" cy="365760"/>
          </a:xfrm>
          <a:prstGeom prst="rect">
            <a:avLst/>
          </a:prstGeom>
          <a:noFill/>
          <a:ln/>
        </p:spPr>
        <p:txBody>
          <a:bodyPr wrap="square" lIns="0" tIns="0" rIns="0" bIns="0" rtlCol="0" anchor="t"/>
          <a:lstStyle/>
          <a:p>
            <a:pPr indent="0" marL="0">
              <a:buNone/>
            </a:pPr>
            <a:r>
              <a:rPr lang="en-US" sz="1700" b="1" dirty="0">
                <a:solidFill>
                  <a:srgbClr val="0B3D3A"/>
                </a:solidFill>
                <a:latin typeface="Calibri" pitchFamily="34" charset="0"/>
                <a:ea typeface="Calibri" pitchFamily="34" charset="-122"/>
                <a:cs typeface="Calibri" pitchFamily="34" charset="-120"/>
              </a:rPr>
              <a:t>Due diligence &amp; reviews</a:t>
            </a:r>
            <a:endParaRPr lang="en-US" sz="1700" dirty="0"/>
          </a:p>
        </p:txBody>
      </p:sp>
      <p:sp>
        <p:nvSpPr>
          <p:cNvPr id="29" name="Text 27"/>
          <p:cNvSpPr txBox="1"/>
          <p:nvPr/>
        </p:nvSpPr>
        <p:spPr>
          <a:xfrm>
            <a:off x="7315200" y="5166360"/>
            <a:ext cx="4114800" cy="68580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Quick, structured scans of target or review-engagement financials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0B3D3A"/>
                </a:solidFill>
                <a:latin typeface="Cambria" pitchFamily="34" charset="0"/>
                <a:ea typeface="Cambria" pitchFamily="34" charset="-122"/>
                <a:cs typeface="Cambria" pitchFamily="34" charset="-120"/>
              </a:rPr>
              <a:t>Control, confidentiality and honest limits</a:t>
            </a:r>
            <a:endParaRPr lang="en-US" sz="3200" dirty="0"/>
          </a:p>
        </p:txBody>
      </p:sp>
      <p:sp>
        <p:nvSpPr>
          <p:cNvPr id="3" name="control card"/>
          <p:cNvSpPr/>
          <p:nvPr/>
        </p:nvSpPr>
        <p:spPr>
          <a:xfrm>
            <a:off x="548640" y="1463040"/>
            <a:ext cx="5440680" cy="3840480"/>
          </a:xfrm>
          <a:prstGeom prst="roundRect">
            <a:avLst>
              <a:gd name="adj" fmla="val 2857"/>
            </a:avLst>
          </a:prstGeom>
          <a:solidFill>
            <a:srgbClr val="EEF4F2"/>
          </a:solidFill>
          <a:ln w="12700">
            <a:solidFill>
              <a:srgbClr val="EEF4F2"/>
            </a:solidFill>
            <a:prstDash val="solid"/>
          </a:ln>
        </p:spPr>
      </p:sp>
      <p:sp>
        <p:nvSpPr>
          <p:cNvPr id="4" name="control circle"/>
          <p:cNvSpPr/>
          <p:nvPr/>
        </p:nvSpPr>
        <p:spPr>
          <a:xfrm>
            <a:off x="777240" y="1691640"/>
            <a:ext cx="685800" cy="685800"/>
          </a:xfrm>
          <a:prstGeom prst="ellipse">
            <a:avLst/>
          </a:prstGeom>
          <a:solidFill>
            <a:srgbClr val="0B3D3A"/>
          </a:solidFill>
          <a:ln w="12700">
            <a:solidFill>
              <a:srgbClr val="0B3D3A"/>
            </a:solidFill>
            <a:prstDash val="solid"/>
          </a:ln>
        </p:spPr>
      </p:sp>
      <p:pic>
        <p:nvPicPr>
          <p:cNvPr id="5" name="control icon" descr="preencoded.png">    </p:cNvPr>
          <p:cNvPicPr>
            <a:picLocks noChangeAspect="1"/>
          </p:cNvPicPr>
          <p:nvPr/>
        </p:nvPicPr>
        <p:blipFill>
          <a:blip r:embed="rId1"/>
          <a:stretch>
            <a:fillRect/>
          </a:stretch>
        </p:blipFill>
        <p:spPr>
          <a:xfrm>
            <a:off x="948690" y="1863090"/>
            <a:ext cx="342900" cy="342900"/>
          </a:xfrm>
          <a:prstGeom prst="rect">
            <a:avLst/>
          </a:prstGeom>
        </p:spPr>
      </p:pic>
      <p:sp>
        <p:nvSpPr>
          <p:cNvPr id="6" name="Text 3"/>
          <p:cNvSpPr txBox="1"/>
          <p:nvPr/>
        </p:nvSpPr>
        <p:spPr>
          <a:xfrm>
            <a:off x="1645920" y="1783080"/>
            <a:ext cx="4114800" cy="457200"/>
          </a:xfrm>
          <a:prstGeom prst="rect">
            <a:avLst/>
          </a:prstGeom>
          <a:noFill/>
          <a:ln/>
        </p:spPr>
        <p:txBody>
          <a:bodyPr wrap="square" lIns="0" tIns="0" rIns="0" bIns="0" rtlCol="0" anchor="t"/>
          <a:lstStyle/>
          <a:p>
            <a:pPr indent="0" marL="0">
              <a:buNone/>
            </a:pPr>
            <a:r>
              <a:rPr lang="en-US" sz="2000" b="1" dirty="0">
                <a:solidFill>
                  <a:srgbClr val="0B3D3A"/>
                </a:solidFill>
                <a:latin typeface="Calibri" pitchFamily="34" charset="0"/>
                <a:ea typeface="Calibri" pitchFamily="34" charset="-122"/>
                <a:cs typeface="Calibri" pitchFamily="34" charset="-120"/>
              </a:rPr>
              <a:t>You stay in control</a:t>
            </a:r>
            <a:endParaRPr lang="en-US" sz="2000" dirty="0"/>
          </a:p>
        </p:txBody>
      </p:sp>
      <p:sp>
        <p:nvSpPr>
          <p:cNvPr id="7" name="Text 4"/>
          <p:cNvSpPr txBox="1"/>
          <p:nvPr/>
        </p:nvSpPr>
        <p:spPr>
          <a:xfrm>
            <a:off x="822960" y="2514600"/>
            <a:ext cx="493776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A2E"/>
                </a:solidFill>
                <a:latin typeface="Calibri" pitchFamily="34" charset="0"/>
                <a:ea typeface="Calibri" pitchFamily="34" charset="-122"/>
                <a:cs typeface="Calibri" pitchFamily="34" charset="-120"/>
              </a:rPr>
              <a:t>Runs in your firm's environment; files live in your own synced folders</a:t>
            </a:r>
            <a:endParaRPr lang="en-US" sz="1500" dirty="0"/>
          </a:p>
          <a:p>
            <a:pPr marL="342900" indent="-342900">
              <a:spcAft>
                <a:spcPts val="800"/>
              </a:spcAft>
              <a:buSzPct val="100000"/>
              <a:buChar char="•"/>
            </a:pPr>
            <a:r>
              <a:rPr lang="en-US" sz="1500" dirty="0">
                <a:solidFill>
                  <a:srgbClr val="1F2A2E"/>
                </a:solidFill>
                <a:latin typeface="Calibri" pitchFamily="34" charset="0"/>
                <a:ea typeface="Calibri" pitchFamily="34" charset="-122"/>
                <a:cs typeface="Calibri" pitchFamily="34" charset="-120"/>
              </a:rPr>
              <a:t>Client input files are read only and never modified</a:t>
            </a:r>
            <a:endParaRPr lang="en-US" sz="1500" dirty="0"/>
          </a:p>
          <a:p>
            <a:pPr marL="342900" indent="-342900">
              <a:spcAft>
                <a:spcPts val="800"/>
              </a:spcAft>
              <a:buSzPct val="100000"/>
              <a:buChar char="•"/>
            </a:pPr>
            <a:r>
              <a:rPr lang="en-US" sz="1500" dirty="0">
                <a:solidFill>
                  <a:srgbClr val="1F2A2E"/>
                </a:solidFill>
                <a:latin typeface="Calibri" pitchFamily="34" charset="0"/>
                <a:ea typeface="Calibri" pitchFamily="34" charset="-122"/>
                <a:cs typeface="Calibri" pitchFamily="34" charset="-120"/>
              </a:rPr>
              <a:t>Pipeline stops for sign-off before any consolidation</a:t>
            </a:r>
            <a:endParaRPr lang="en-US" sz="1500" dirty="0"/>
          </a:p>
          <a:p>
            <a:pPr marL="342900" indent="-342900">
              <a:spcAft>
                <a:spcPts val="800"/>
              </a:spcAft>
              <a:buSzPct val="100000"/>
              <a:buChar char="•"/>
            </a:pPr>
            <a:r>
              <a:rPr lang="en-US" sz="1500" dirty="0">
                <a:solidFill>
                  <a:srgbClr val="1F2A2E"/>
                </a:solidFill>
                <a:latin typeface="Calibri" pitchFamily="34" charset="0"/>
                <a:ea typeface="Calibri" pitchFamily="34" charset="-122"/>
                <a:cs typeface="Calibri" pitchFamily="34" charset="-120"/>
              </a:rPr>
              <a:t>Nothing is published or sent anywhere automatically</a:t>
            </a:r>
            <a:endParaRPr lang="en-US" sz="1500" dirty="0"/>
          </a:p>
          <a:p>
            <a:pPr marL="342900" indent="-342900">
              <a:spcAft>
                <a:spcPts val="800"/>
              </a:spcAft>
              <a:buSzPct val="100000"/>
              <a:buChar char="•"/>
            </a:pPr>
            <a:r>
              <a:rPr lang="en-US" sz="1500" dirty="0">
                <a:solidFill>
                  <a:srgbClr val="1F2A2E"/>
                </a:solidFill>
                <a:latin typeface="Calibri" pitchFamily="34" charset="0"/>
                <a:ea typeface="Calibri" pitchFamily="34" charset="-122"/>
                <a:cs typeface="Calibri" pitchFamily="34" charset="-120"/>
              </a:rPr>
              <a:t>AI processing runs under your firm's own Claude account and data policy</a:t>
            </a:r>
            <a:endParaRPr lang="en-US" sz="1500" dirty="0"/>
          </a:p>
        </p:txBody>
      </p:sp>
      <p:sp>
        <p:nvSpPr>
          <p:cNvPr id="8" name="limits card"/>
          <p:cNvSpPr/>
          <p:nvPr/>
        </p:nvSpPr>
        <p:spPr>
          <a:xfrm>
            <a:off x="6172200" y="1463040"/>
            <a:ext cx="5440680" cy="3840480"/>
          </a:xfrm>
          <a:prstGeom prst="roundRect">
            <a:avLst>
              <a:gd name="adj" fmla="val 2857"/>
            </a:avLst>
          </a:prstGeom>
          <a:solidFill>
            <a:srgbClr val="FFFFFF"/>
          </a:solidFill>
          <a:ln w="12700">
            <a:solidFill>
              <a:srgbClr val="FFFFFF"/>
            </a:solidFill>
            <a:prstDash val="solid"/>
          </a:ln>
        </p:spPr>
      </p:sp>
      <p:sp>
        <p:nvSpPr>
          <p:cNvPr id="9" name="limits outline"/>
          <p:cNvSpPr/>
          <p:nvPr/>
        </p:nvSpPr>
        <p:spPr>
          <a:xfrm>
            <a:off x="6172200" y="1463040"/>
            <a:ext cx="5440680" cy="3840480"/>
          </a:xfrm>
          <a:prstGeom prst="roundRect">
            <a:avLst>
              <a:gd name="adj" fmla="val 2857"/>
            </a:avLst>
          </a:prstGeom>
          <a:solidFill>
            <a:srgbClr val="FFFFFF"/>
          </a:solidFill>
          <a:ln w="12700">
            <a:solidFill>
              <a:srgbClr val="D5E2DF"/>
            </a:solidFill>
            <a:prstDash val="solid"/>
          </a:ln>
        </p:spPr>
      </p:sp>
      <p:sp>
        <p:nvSpPr>
          <p:cNvPr id="10" name="limits circle"/>
          <p:cNvSpPr/>
          <p:nvPr/>
        </p:nvSpPr>
        <p:spPr>
          <a:xfrm>
            <a:off x="6400800" y="1691640"/>
            <a:ext cx="685800" cy="685800"/>
          </a:xfrm>
          <a:prstGeom prst="ellipse">
            <a:avLst/>
          </a:prstGeom>
          <a:solidFill>
            <a:srgbClr val="C9A227"/>
          </a:solidFill>
          <a:ln w="12700">
            <a:solidFill>
              <a:srgbClr val="C9A227"/>
            </a:solidFill>
            <a:prstDash val="solid"/>
          </a:ln>
        </p:spPr>
      </p:sp>
      <p:pic>
        <p:nvPicPr>
          <p:cNvPr id="11" name="limits icon" descr="preencoded.png">    </p:cNvPr>
          <p:cNvPicPr>
            <a:picLocks noChangeAspect="1"/>
          </p:cNvPicPr>
          <p:nvPr/>
        </p:nvPicPr>
        <p:blipFill>
          <a:blip r:embed="rId2"/>
          <a:stretch>
            <a:fillRect/>
          </a:stretch>
        </p:blipFill>
        <p:spPr>
          <a:xfrm>
            <a:off x="6572250" y="1863090"/>
            <a:ext cx="342900" cy="342900"/>
          </a:xfrm>
          <a:prstGeom prst="rect">
            <a:avLst/>
          </a:prstGeom>
        </p:spPr>
      </p:pic>
      <p:sp>
        <p:nvSpPr>
          <p:cNvPr id="12" name="Text 8"/>
          <p:cNvSpPr txBox="1"/>
          <p:nvPr/>
        </p:nvSpPr>
        <p:spPr>
          <a:xfrm>
            <a:off x="7269480" y="1783080"/>
            <a:ext cx="4114800" cy="457200"/>
          </a:xfrm>
          <a:prstGeom prst="rect">
            <a:avLst/>
          </a:prstGeom>
          <a:noFill/>
          <a:ln/>
        </p:spPr>
        <p:txBody>
          <a:bodyPr wrap="square" lIns="0" tIns="0" rIns="0" bIns="0" rtlCol="0" anchor="t"/>
          <a:lstStyle/>
          <a:p>
            <a:pPr indent="0" marL="0">
              <a:buNone/>
            </a:pPr>
            <a:r>
              <a:rPr lang="en-US" sz="2000" b="1" dirty="0">
                <a:solidFill>
                  <a:srgbClr val="0B3D3A"/>
                </a:solidFill>
                <a:latin typeface="Calibri" pitchFamily="34" charset="0"/>
                <a:ea typeface="Calibri" pitchFamily="34" charset="-122"/>
                <a:cs typeface="Calibri" pitchFamily="34" charset="-120"/>
              </a:rPr>
              <a:t>What it does not do</a:t>
            </a:r>
            <a:endParaRPr lang="en-US" sz="2000" dirty="0"/>
          </a:p>
        </p:txBody>
      </p:sp>
      <p:sp>
        <p:nvSpPr>
          <p:cNvPr id="13" name="Text 9"/>
          <p:cNvSpPr txBox="1"/>
          <p:nvPr/>
        </p:nvSpPr>
        <p:spPr>
          <a:xfrm>
            <a:off x="6446520" y="2514600"/>
            <a:ext cx="493776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A2E"/>
                </a:solidFill>
                <a:latin typeface="Calibri" pitchFamily="34" charset="0"/>
                <a:ea typeface="Calibri" pitchFamily="34" charset="-122"/>
                <a:cs typeface="Calibri" pitchFamily="34" charset="-120"/>
              </a:rPr>
              <a:t>It does not issue opinions or conclude on going concern</a:t>
            </a:r>
            <a:endParaRPr lang="en-US" sz="1500" dirty="0"/>
          </a:p>
          <a:p>
            <a:pPr marL="342900" indent="-342900">
              <a:spcAft>
                <a:spcPts val="800"/>
              </a:spcAft>
              <a:buSzPct val="100000"/>
              <a:buChar char="•"/>
            </a:pPr>
            <a:r>
              <a:rPr lang="en-US" sz="1500" dirty="0">
                <a:solidFill>
                  <a:srgbClr val="1F2A2E"/>
                </a:solidFill>
                <a:latin typeface="Calibri" pitchFamily="34" charset="0"/>
                <a:ea typeface="Calibri" pitchFamily="34" charset="-122"/>
                <a:cs typeface="Calibri" pitchFamily="34" charset="-120"/>
              </a:rPr>
              <a:t>It does not replace professional judgment or partner review</a:t>
            </a:r>
            <a:endParaRPr lang="en-US" sz="1500" dirty="0"/>
          </a:p>
          <a:p>
            <a:pPr marL="342900" indent="-342900">
              <a:spcAft>
                <a:spcPts val="800"/>
              </a:spcAft>
              <a:buSzPct val="100000"/>
              <a:buChar char="•"/>
            </a:pPr>
            <a:r>
              <a:rPr lang="en-US" sz="1500" dirty="0">
                <a:solidFill>
                  <a:srgbClr val="1F2A2E"/>
                </a:solidFill>
                <a:latin typeface="Calibri" pitchFamily="34" charset="0"/>
                <a:ea typeface="Calibri" pitchFamily="34" charset="-122"/>
                <a:cs typeface="Calibri" pitchFamily="34" charset="-120"/>
              </a:rPr>
              <a:t>It does not test controls or obtain external evidence</a:t>
            </a:r>
            <a:endParaRPr lang="en-US" sz="1500" dirty="0"/>
          </a:p>
          <a:p>
            <a:pPr marL="342900" indent="-342900">
              <a:spcAft>
                <a:spcPts val="800"/>
              </a:spcAft>
              <a:buSzPct val="100000"/>
              <a:buChar char="•"/>
            </a:pPr>
            <a:r>
              <a:rPr lang="en-US" sz="1500" dirty="0">
                <a:solidFill>
                  <a:srgbClr val="1F2A2E"/>
                </a:solidFill>
                <a:latin typeface="Calibri" pitchFamily="34" charset="0"/>
                <a:ea typeface="Calibri" pitchFamily="34" charset="-122"/>
                <a:cs typeface="Calibri" pitchFamily="34" charset="-120"/>
              </a:rPr>
              <a:t>Its output is a draft working paper for your team to review and own</a:t>
            </a:r>
            <a:endParaRPr lang="en-US" sz="1500" dirty="0"/>
          </a:p>
        </p:txBody>
      </p:sp>
      <p:sp>
        <p:nvSpPr>
          <p:cNvPr id="14" name="Text 10"/>
          <p:cNvSpPr txBox="1"/>
          <p:nvPr/>
        </p:nvSpPr>
        <p:spPr>
          <a:xfrm>
            <a:off x="548640" y="5532120"/>
            <a:ext cx="11064240" cy="548640"/>
          </a:xfrm>
          <a:prstGeom prst="rect">
            <a:avLst/>
          </a:prstGeom>
          <a:noFill/>
          <a:ln/>
        </p:spPr>
        <p:txBody>
          <a:bodyPr wrap="square" lIns="0" tIns="0" rIns="0" bIns="0" rtlCol="0" anchor="t"/>
          <a:lstStyle/>
          <a:p>
            <a:pPr indent="0" marL="0">
              <a:buNone/>
            </a:pPr>
            <a:r>
              <a:rPr lang="en-US" sz="1400" i="1" dirty="0">
                <a:solidFill>
                  <a:srgbClr val="3E7C74"/>
                </a:solidFill>
                <a:latin typeface="Calibri" pitchFamily="34" charset="0"/>
                <a:ea typeface="Calibri" pitchFamily="34" charset="-122"/>
                <a:cs typeface="Calibri" pitchFamily="34" charset="-120"/>
              </a:rPr>
              <a:t>Recommended: keep the agent's output as a draft working paper, reviewed and signed off under your firm's normal quality-management procedures.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rgbClr val="0B3D3A"/>
                </a:solidFill>
                <a:latin typeface="Cambria" pitchFamily="34" charset="0"/>
                <a:ea typeface="Cambria" pitchFamily="34" charset="-122"/>
                <a:cs typeface="Cambria" pitchFamily="34" charset="-120"/>
              </a:rPr>
              <a:t>A low-risk way to start: a 30-day pilot</a:t>
            </a:r>
            <a:endParaRPr lang="en-US" sz="3200" dirty="0"/>
          </a:p>
        </p:txBody>
      </p:sp>
      <p:sp>
        <p:nvSpPr>
          <p:cNvPr id="3" name="timeline"/>
          <p:cNvSpPr/>
          <p:nvPr/>
        </p:nvSpPr>
        <p:spPr>
          <a:xfrm>
            <a:off x="914400" y="2148840"/>
            <a:ext cx="10332720" cy="0"/>
          </a:xfrm>
          <a:prstGeom prst="line">
            <a:avLst/>
          </a:prstGeom>
          <a:noFill/>
          <a:ln w="38100">
            <a:solidFill>
              <a:srgbClr val="8FB8B0"/>
            </a:solidFill>
            <a:prstDash val="solid"/>
          </a:ln>
        </p:spPr>
      </p:sp>
      <p:sp>
        <p:nvSpPr>
          <p:cNvPr id="4" name="milestone 1"/>
          <p:cNvSpPr/>
          <p:nvPr/>
        </p:nvSpPr>
        <p:spPr>
          <a:xfrm>
            <a:off x="731520" y="1828800"/>
            <a:ext cx="640080" cy="640080"/>
          </a:xfrm>
          <a:prstGeom prst="ellipse">
            <a:avLst/>
          </a:prstGeom>
          <a:solidFill>
            <a:srgbClr val="0B3D3A"/>
          </a:solidFill>
          <a:ln w="25400">
            <a:solidFill>
              <a:srgbClr val="FFFFFF"/>
            </a:solidFill>
            <a:prstDash val="solid"/>
          </a:ln>
        </p:spPr>
      </p:sp>
      <p:sp>
        <p:nvSpPr>
          <p:cNvPr id="5" name="Text 3"/>
          <p:cNvSpPr txBox="1"/>
          <p:nvPr/>
        </p:nvSpPr>
        <p:spPr>
          <a:xfrm>
            <a:off x="731520" y="1828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731520" y="2651760"/>
            <a:ext cx="2468880" cy="32004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Week 1</a:t>
            </a:r>
            <a:endParaRPr lang="en-US" sz="1300" dirty="0"/>
          </a:p>
        </p:txBody>
      </p:sp>
      <p:sp>
        <p:nvSpPr>
          <p:cNvPr id="7" name="Text 5"/>
          <p:cNvSpPr txBox="1"/>
          <p:nvPr/>
        </p:nvSpPr>
        <p:spPr>
          <a:xfrm>
            <a:off x="731520" y="2971800"/>
            <a:ext cx="2468880" cy="411480"/>
          </a:xfrm>
          <a:prstGeom prst="rect">
            <a:avLst/>
          </a:prstGeom>
          <a:noFill/>
          <a:ln/>
        </p:spPr>
        <p:txBody>
          <a:bodyPr wrap="square" lIns="0" tIns="0" rIns="0" bIns="0" rtlCol="0" anchor="t"/>
          <a:lstStyle/>
          <a:p>
            <a:pPr indent="0" marL="0">
              <a:buNone/>
            </a:pPr>
            <a:r>
              <a:rPr lang="en-US" sz="2000" b="1" dirty="0">
                <a:solidFill>
                  <a:srgbClr val="0B3D3A"/>
                </a:solidFill>
                <a:latin typeface="Calibri" pitchFamily="34" charset="0"/>
                <a:ea typeface="Calibri" pitchFamily="34" charset="-122"/>
                <a:cs typeface="Calibri" pitchFamily="34" charset="-120"/>
              </a:rPr>
              <a:t>Set up</a:t>
            </a:r>
            <a:endParaRPr lang="en-US" sz="2000" dirty="0"/>
          </a:p>
        </p:txBody>
      </p:sp>
      <p:sp>
        <p:nvSpPr>
          <p:cNvPr id="8" name="Text 6"/>
          <p:cNvSpPr txBox="1"/>
          <p:nvPr/>
        </p:nvSpPr>
        <p:spPr>
          <a:xfrm>
            <a:off x="731520" y="3429000"/>
            <a:ext cx="2514600" cy="100584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Install, connect your folder, confirm firm-wide settings and thresholds</a:t>
            </a:r>
            <a:endParaRPr lang="en-US" sz="1400" dirty="0"/>
          </a:p>
        </p:txBody>
      </p:sp>
      <p:sp>
        <p:nvSpPr>
          <p:cNvPr id="9" name="milestone 2"/>
          <p:cNvSpPr/>
          <p:nvPr/>
        </p:nvSpPr>
        <p:spPr>
          <a:xfrm>
            <a:off x="3538728" y="1828800"/>
            <a:ext cx="640080" cy="640080"/>
          </a:xfrm>
          <a:prstGeom prst="ellipse">
            <a:avLst/>
          </a:prstGeom>
          <a:solidFill>
            <a:srgbClr val="0B3D3A"/>
          </a:solidFill>
          <a:ln w="25400">
            <a:solidFill>
              <a:srgbClr val="FFFFFF"/>
            </a:solidFill>
            <a:prstDash val="solid"/>
          </a:ln>
        </p:spPr>
      </p:sp>
      <p:sp>
        <p:nvSpPr>
          <p:cNvPr id="10" name="Text 8"/>
          <p:cNvSpPr txBox="1"/>
          <p:nvPr/>
        </p:nvSpPr>
        <p:spPr>
          <a:xfrm>
            <a:off x="3538728" y="1828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3538728" y="2651760"/>
            <a:ext cx="2468880" cy="32004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Week 2</a:t>
            </a:r>
            <a:endParaRPr lang="en-US" sz="1300" dirty="0"/>
          </a:p>
        </p:txBody>
      </p:sp>
      <p:sp>
        <p:nvSpPr>
          <p:cNvPr id="12" name="Text 10"/>
          <p:cNvSpPr txBox="1"/>
          <p:nvPr/>
        </p:nvSpPr>
        <p:spPr>
          <a:xfrm>
            <a:off x="3538728" y="2971800"/>
            <a:ext cx="2468880" cy="411480"/>
          </a:xfrm>
          <a:prstGeom prst="rect">
            <a:avLst/>
          </a:prstGeom>
          <a:noFill/>
          <a:ln/>
        </p:spPr>
        <p:txBody>
          <a:bodyPr wrap="square" lIns="0" tIns="0" rIns="0" bIns="0" rtlCol="0" anchor="t"/>
          <a:lstStyle/>
          <a:p>
            <a:pPr indent="0" marL="0">
              <a:buNone/>
            </a:pPr>
            <a:r>
              <a:rPr lang="en-US" sz="2000" b="1" dirty="0">
                <a:solidFill>
                  <a:srgbClr val="0B3D3A"/>
                </a:solidFill>
                <a:latin typeface="Calibri" pitchFamily="34" charset="0"/>
                <a:ea typeface="Calibri" pitchFamily="34" charset="-122"/>
                <a:cs typeface="Calibri" pitchFamily="34" charset="-120"/>
              </a:rPr>
              <a:t>Shadow run</a:t>
            </a:r>
            <a:endParaRPr lang="en-US" sz="2000" dirty="0"/>
          </a:p>
        </p:txBody>
      </p:sp>
      <p:sp>
        <p:nvSpPr>
          <p:cNvPr id="13" name="Text 11"/>
          <p:cNvSpPr txBox="1"/>
          <p:nvPr/>
        </p:nvSpPr>
        <p:spPr>
          <a:xfrm>
            <a:off x="3538728" y="3429000"/>
            <a:ext cx="2514600" cy="100584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Run 2-3 closed engagements alongside the team's own work</a:t>
            </a:r>
            <a:endParaRPr lang="en-US" sz="1400" dirty="0"/>
          </a:p>
        </p:txBody>
      </p:sp>
      <p:sp>
        <p:nvSpPr>
          <p:cNvPr id="14" name="milestone 3"/>
          <p:cNvSpPr/>
          <p:nvPr/>
        </p:nvSpPr>
        <p:spPr>
          <a:xfrm>
            <a:off x="6345936" y="1828800"/>
            <a:ext cx="640080" cy="640080"/>
          </a:xfrm>
          <a:prstGeom prst="ellipse">
            <a:avLst/>
          </a:prstGeom>
          <a:solidFill>
            <a:srgbClr val="0B3D3A"/>
          </a:solidFill>
          <a:ln w="25400">
            <a:solidFill>
              <a:srgbClr val="FFFFFF"/>
            </a:solidFill>
            <a:prstDash val="solid"/>
          </a:ln>
        </p:spPr>
      </p:sp>
      <p:sp>
        <p:nvSpPr>
          <p:cNvPr id="15" name="Text 13"/>
          <p:cNvSpPr txBox="1"/>
          <p:nvPr/>
        </p:nvSpPr>
        <p:spPr>
          <a:xfrm>
            <a:off x="6345936" y="1828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6345936" y="2651760"/>
            <a:ext cx="2468880" cy="32004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Week 3</a:t>
            </a:r>
            <a:endParaRPr lang="en-US" sz="1300" dirty="0"/>
          </a:p>
        </p:txBody>
      </p:sp>
      <p:sp>
        <p:nvSpPr>
          <p:cNvPr id="17" name="Text 15"/>
          <p:cNvSpPr txBox="1"/>
          <p:nvPr/>
        </p:nvSpPr>
        <p:spPr>
          <a:xfrm>
            <a:off x="6345936" y="2971800"/>
            <a:ext cx="2468880" cy="411480"/>
          </a:xfrm>
          <a:prstGeom prst="rect">
            <a:avLst/>
          </a:prstGeom>
          <a:noFill/>
          <a:ln/>
        </p:spPr>
        <p:txBody>
          <a:bodyPr wrap="square" lIns="0" tIns="0" rIns="0" bIns="0" rtlCol="0" anchor="t"/>
          <a:lstStyle/>
          <a:p>
            <a:pPr indent="0" marL="0">
              <a:buNone/>
            </a:pPr>
            <a:r>
              <a:rPr lang="en-US" sz="2000" b="1" dirty="0">
                <a:solidFill>
                  <a:srgbClr val="0B3D3A"/>
                </a:solidFill>
                <a:latin typeface="Calibri" pitchFamily="34" charset="0"/>
                <a:ea typeface="Calibri" pitchFamily="34" charset="-122"/>
                <a:cs typeface="Calibri" pitchFamily="34" charset="-120"/>
              </a:rPr>
              <a:t>Compare</a:t>
            </a:r>
            <a:endParaRPr lang="en-US" sz="2000" dirty="0"/>
          </a:p>
        </p:txBody>
      </p:sp>
      <p:sp>
        <p:nvSpPr>
          <p:cNvPr id="18" name="Text 16"/>
          <p:cNvSpPr txBox="1"/>
          <p:nvPr/>
        </p:nvSpPr>
        <p:spPr>
          <a:xfrm>
            <a:off x="6345936" y="3429000"/>
            <a:ext cx="2514600" cy="100584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Measure time, findings and quality against the manual file</a:t>
            </a:r>
            <a:endParaRPr lang="en-US" sz="1400" dirty="0"/>
          </a:p>
        </p:txBody>
      </p:sp>
      <p:sp>
        <p:nvSpPr>
          <p:cNvPr id="19" name="milestone 4"/>
          <p:cNvSpPr/>
          <p:nvPr/>
        </p:nvSpPr>
        <p:spPr>
          <a:xfrm>
            <a:off x="9153144" y="1828800"/>
            <a:ext cx="640080" cy="640080"/>
          </a:xfrm>
          <a:prstGeom prst="ellipse">
            <a:avLst/>
          </a:prstGeom>
          <a:solidFill>
            <a:srgbClr val="C9A227"/>
          </a:solidFill>
          <a:ln w="25400">
            <a:solidFill>
              <a:srgbClr val="FFFFFF"/>
            </a:solidFill>
            <a:prstDash val="solid"/>
          </a:ln>
        </p:spPr>
      </p:sp>
      <p:sp>
        <p:nvSpPr>
          <p:cNvPr id="20" name="Text 18"/>
          <p:cNvSpPr txBox="1"/>
          <p:nvPr/>
        </p:nvSpPr>
        <p:spPr>
          <a:xfrm>
            <a:off x="9153144" y="1828800"/>
            <a:ext cx="640080" cy="640080"/>
          </a:xfrm>
          <a:prstGeom prst="rect">
            <a:avLst/>
          </a:prstGeom>
          <a:noFill/>
          <a:ln/>
        </p:spPr>
        <p:txBody>
          <a:bodyPr wrap="square" lIns="0" tIns="0" rIns="0" bIns="0" rtlCol="0" anchor="ctr"/>
          <a:lstStyle/>
          <a:p>
            <a:pPr algn="ctr" indent="0" marL="0">
              <a:buNone/>
            </a:pPr>
            <a:r>
              <a:rPr lang="en-US" sz="1800" b="1" dirty="0">
                <a:solidFill>
                  <a:srgbClr val="0B3D3A"/>
                </a:solidFill>
                <a:latin typeface="Calibri" pitchFamily="34" charset="0"/>
                <a:ea typeface="Calibri" pitchFamily="34" charset="-122"/>
                <a:cs typeface="Calibri" pitchFamily="34" charset="-120"/>
              </a:rPr>
              <a:t>4</a:t>
            </a:r>
            <a:endParaRPr lang="en-US" sz="1800" dirty="0"/>
          </a:p>
        </p:txBody>
      </p:sp>
      <p:sp>
        <p:nvSpPr>
          <p:cNvPr id="21" name="Text 19"/>
          <p:cNvSpPr txBox="1"/>
          <p:nvPr/>
        </p:nvSpPr>
        <p:spPr>
          <a:xfrm>
            <a:off x="9153144" y="2651760"/>
            <a:ext cx="2468880" cy="320040"/>
          </a:xfrm>
          <a:prstGeom prst="rect">
            <a:avLst/>
          </a:prstGeom>
          <a:noFill/>
          <a:ln/>
        </p:spPr>
        <p:txBody>
          <a:bodyPr wrap="square" lIns="0" tIns="0" rIns="0" bIns="0" rtlCol="0" anchor="t"/>
          <a:lstStyle/>
          <a:p>
            <a:pPr indent="0" marL="0">
              <a:buNone/>
            </a:pPr>
            <a:r>
              <a:rPr lang="en-US" sz="1300" dirty="0">
                <a:solidFill>
                  <a:srgbClr val="5E6E73"/>
                </a:solidFill>
                <a:latin typeface="Calibri" pitchFamily="34" charset="0"/>
                <a:ea typeface="Calibri" pitchFamily="34" charset="-122"/>
                <a:cs typeface="Calibri" pitchFamily="34" charset="-120"/>
              </a:rPr>
              <a:t>Week 4</a:t>
            </a:r>
            <a:endParaRPr lang="en-US" sz="1300" dirty="0"/>
          </a:p>
        </p:txBody>
      </p:sp>
      <p:sp>
        <p:nvSpPr>
          <p:cNvPr id="22" name="Text 20"/>
          <p:cNvSpPr txBox="1"/>
          <p:nvPr/>
        </p:nvSpPr>
        <p:spPr>
          <a:xfrm>
            <a:off x="9153144" y="2971800"/>
            <a:ext cx="2468880" cy="411480"/>
          </a:xfrm>
          <a:prstGeom prst="rect">
            <a:avLst/>
          </a:prstGeom>
          <a:noFill/>
          <a:ln/>
        </p:spPr>
        <p:txBody>
          <a:bodyPr wrap="square" lIns="0" tIns="0" rIns="0" bIns="0" rtlCol="0" anchor="t"/>
          <a:lstStyle/>
          <a:p>
            <a:pPr indent="0" marL="0">
              <a:buNone/>
            </a:pPr>
            <a:r>
              <a:rPr lang="en-US" sz="2000" b="1" dirty="0">
                <a:solidFill>
                  <a:srgbClr val="0B3D3A"/>
                </a:solidFill>
                <a:latin typeface="Calibri" pitchFamily="34" charset="0"/>
                <a:ea typeface="Calibri" pitchFamily="34" charset="-122"/>
                <a:cs typeface="Calibri" pitchFamily="34" charset="-120"/>
              </a:rPr>
              <a:t>Decide</a:t>
            </a:r>
            <a:endParaRPr lang="en-US" sz="2000" dirty="0"/>
          </a:p>
        </p:txBody>
      </p:sp>
      <p:sp>
        <p:nvSpPr>
          <p:cNvPr id="23" name="Text 21"/>
          <p:cNvSpPr txBox="1"/>
          <p:nvPr/>
        </p:nvSpPr>
        <p:spPr>
          <a:xfrm>
            <a:off x="9153144" y="3429000"/>
            <a:ext cx="2514600" cy="1005840"/>
          </a:xfrm>
          <a:prstGeom prst="rect">
            <a:avLst/>
          </a:prstGeom>
          <a:noFill/>
          <a:ln/>
        </p:spPr>
        <p:txBody>
          <a:bodyPr wrap="square" lIns="0" tIns="0" rIns="0" bIns="0" rtlCol="0" anchor="t"/>
          <a:lstStyle/>
          <a:p>
            <a:pPr indent="0" marL="0">
              <a:buNone/>
            </a:pPr>
            <a:r>
              <a:rPr lang="en-US" sz="1400" dirty="0">
                <a:solidFill>
                  <a:srgbClr val="1F2A2E"/>
                </a:solidFill>
                <a:latin typeface="Calibri" pitchFamily="34" charset="0"/>
                <a:ea typeface="Calibri" pitchFamily="34" charset="-122"/>
                <a:cs typeface="Calibri" pitchFamily="34" charset="-120"/>
              </a:rPr>
              <a:t>Review results with leadership; agree rollout scope</a:t>
            </a:r>
            <a:endParaRPr lang="en-US" sz="1400" dirty="0"/>
          </a:p>
        </p:txBody>
      </p:sp>
      <p:sp>
        <p:nvSpPr>
          <p:cNvPr id="24" name="metrics card"/>
          <p:cNvSpPr/>
          <p:nvPr/>
        </p:nvSpPr>
        <p:spPr>
          <a:xfrm>
            <a:off x="548640" y="4754880"/>
            <a:ext cx="11064240" cy="1143000"/>
          </a:xfrm>
          <a:prstGeom prst="roundRect">
            <a:avLst>
              <a:gd name="adj" fmla="val 9600"/>
            </a:avLst>
          </a:prstGeom>
          <a:solidFill>
            <a:srgbClr val="EEF4F2"/>
          </a:solidFill>
          <a:ln w="12700">
            <a:solidFill>
              <a:srgbClr val="EEF4F2"/>
            </a:solidFill>
            <a:prstDash val="solid"/>
          </a:ln>
        </p:spPr>
      </p:sp>
      <p:sp>
        <p:nvSpPr>
          <p:cNvPr id="25" name="Text 23"/>
          <p:cNvSpPr txBox="1"/>
          <p:nvPr/>
        </p:nvSpPr>
        <p:spPr>
          <a:xfrm>
            <a:off x="777240" y="4864608"/>
            <a:ext cx="4572000" cy="365760"/>
          </a:xfrm>
          <a:prstGeom prst="rect">
            <a:avLst/>
          </a:prstGeom>
          <a:noFill/>
          <a:ln/>
        </p:spPr>
        <p:txBody>
          <a:bodyPr wrap="square" lIns="0" tIns="0" rIns="0" bIns="0" rtlCol="0" anchor="t"/>
          <a:lstStyle/>
          <a:p>
            <a:pPr indent="0" marL="0">
              <a:buNone/>
            </a:pPr>
            <a:r>
              <a:rPr lang="en-US" sz="1600" b="1" dirty="0">
                <a:solidFill>
                  <a:srgbClr val="0B3D3A"/>
                </a:solidFill>
                <a:latin typeface="Calibri" pitchFamily="34" charset="0"/>
                <a:ea typeface="Calibri" pitchFamily="34" charset="-122"/>
                <a:cs typeface="Calibri" pitchFamily="34" charset="-120"/>
              </a:rPr>
              <a:t>Pilot success measures</a:t>
            </a:r>
            <a:endParaRPr lang="en-US" sz="1600" dirty="0"/>
          </a:p>
        </p:txBody>
      </p:sp>
      <p:sp>
        <p:nvSpPr>
          <p:cNvPr id="26" name="Text 24"/>
          <p:cNvSpPr txBox="1"/>
          <p:nvPr/>
        </p:nvSpPr>
        <p:spPr>
          <a:xfrm>
            <a:off x="777240" y="5303520"/>
            <a:ext cx="10607040" cy="640080"/>
          </a:xfrm>
          <a:prstGeom prst="rect">
            <a:avLst/>
          </a:prstGeom>
          <a:noFill/>
          <a:ln/>
        </p:spPr>
        <p:txBody>
          <a:bodyPr wrap="square" lIns="0" tIns="0" rIns="0" bIns="0" rtlCol="0" anchor="t"/>
          <a:lstStyle/>
          <a:p>
            <a:pPr indent="0" marL="0">
              <a:buNone/>
            </a:pPr>
            <a:r>
              <a:rPr lang="en-US" sz="1500" dirty="0">
                <a:solidFill>
                  <a:srgbClr val="1F2A2E"/>
                </a:solidFill>
                <a:latin typeface="Calibri" pitchFamily="34" charset="0"/>
                <a:ea typeface="Calibri" pitchFamily="34" charset="-122"/>
                <a:cs typeface="Calibri" pitchFamily="34" charset="-120"/>
              </a:rPr>
              <a:t>Hours per engagement   |   Red flags found vs the manual file   |   Reviewer corrections needed   |   Turnaround time to the client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lose circle"/>
          <p:cNvSpPr/>
          <p:nvPr/>
        </p:nvSpPr>
        <p:spPr>
          <a:xfrm>
            <a:off x="731520" y="822960"/>
            <a:ext cx="822960" cy="822960"/>
          </a:xfrm>
          <a:prstGeom prst="ellipse">
            <a:avLst/>
          </a:prstGeom>
          <a:solidFill>
            <a:srgbClr val="C9A227"/>
          </a:solidFill>
          <a:ln w="12700">
            <a:solidFill>
              <a:srgbClr val="C9A227"/>
            </a:solidFill>
            <a:prstDash val="solid"/>
          </a:ln>
        </p:spPr>
      </p:sp>
      <p:pic>
        <p:nvPicPr>
          <p:cNvPr id="3" name="close icon" descr="preencoded.png">    </p:cNvPr>
          <p:cNvPicPr>
            <a:picLocks noChangeAspect="1"/>
          </p:cNvPicPr>
          <p:nvPr/>
        </p:nvPicPr>
        <p:blipFill>
          <a:blip r:embed="rId1"/>
          <a:stretch>
            <a:fillRect/>
          </a:stretch>
        </p:blipFill>
        <p:spPr>
          <a:xfrm>
            <a:off x="937260" y="1028700"/>
            <a:ext cx="411480" cy="411480"/>
          </a:xfrm>
          <a:prstGeom prst="rect">
            <a:avLst/>
          </a:prstGeom>
        </p:spPr>
      </p:pic>
      <p:sp>
        <p:nvSpPr>
          <p:cNvPr id="4" name="Text 1"/>
          <p:cNvSpPr txBox="1"/>
          <p:nvPr/>
        </p:nvSpPr>
        <p:spPr>
          <a:xfrm>
            <a:off x="731520" y="1920240"/>
            <a:ext cx="10607040" cy="12801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Give your team back the hours, and keep the judgment</a:t>
            </a:r>
            <a:endParaRPr lang="en-US" sz="4000" dirty="0"/>
          </a:p>
        </p:txBody>
      </p:sp>
      <p:sp>
        <p:nvSpPr>
          <p:cNvPr id="5" name="Text 2"/>
          <p:cNvSpPr txBox="1"/>
          <p:nvPr/>
        </p:nvSpPr>
        <p:spPr>
          <a:xfrm>
            <a:off x="731520" y="3474720"/>
            <a:ext cx="3291840" cy="822960"/>
          </a:xfrm>
          <a:prstGeom prst="rect">
            <a:avLst/>
          </a:prstGeom>
          <a:noFill/>
          <a:ln/>
        </p:spPr>
        <p:txBody>
          <a:bodyPr wrap="square" lIns="0" tIns="0" rIns="0" bIns="0" rtlCol="0" anchor="t"/>
          <a:lstStyle/>
          <a:p>
            <a:pPr indent="0" marL="0">
              <a:buNone/>
            </a:pPr>
            <a:r>
              <a:rPr lang="en-US" sz="4800" b="1" dirty="0">
                <a:solidFill>
                  <a:srgbClr val="C9A227"/>
                </a:solidFill>
                <a:latin typeface="Cambria" pitchFamily="34" charset="0"/>
                <a:ea typeface="Cambria" pitchFamily="34" charset="-122"/>
                <a:cs typeface="Cambria" pitchFamily="34" charset="-120"/>
              </a:rPr>
              <a:t>66%</a:t>
            </a:r>
            <a:endParaRPr lang="en-US" sz="4800" dirty="0"/>
          </a:p>
        </p:txBody>
      </p:sp>
      <p:sp>
        <p:nvSpPr>
          <p:cNvPr id="6" name="Text 3"/>
          <p:cNvSpPr txBox="1"/>
          <p:nvPr/>
        </p:nvSpPr>
        <p:spPr>
          <a:xfrm>
            <a:off x="731520" y="4297680"/>
            <a:ext cx="3200400" cy="640080"/>
          </a:xfrm>
          <a:prstGeom prst="rect">
            <a:avLst/>
          </a:prstGeom>
          <a:noFill/>
          <a:ln/>
        </p:spPr>
        <p:txBody>
          <a:bodyPr wrap="square" lIns="0" tIns="0" rIns="0" bIns="0" rtlCol="0" anchor="t"/>
          <a:lstStyle/>
          <a:p>
            <a:pPr indent="0" marL="0">
              <a:buNone/>
            </a:pPr>
            <a:r>
              <a:rPr lang="en-US" sz="1500" dirty="0">
                <a:solidFill>
                  <a:srgbClr val="8FB8B0"/>
                </a:solidFill>
                <a:latin typeface="Calibri" pitchFamily="34" charset="0"/>
                <a:ea typeface="Calibri" pitchFamily="34" charset="-122"/>
                <a:cs typeface="Calibri" pitchFamily="34" charset="-120"/>
              </a:rPr>
              <a:t>fewer hours per engagement (illustrative)</a:t>
            </a:r>
            <a:endParaRPr lang="en-US" sz="1500" dirty="0"/>
          </a:p>
        </p:txBody>
      </p:sp>
      <p:sp>
        <p:nvSpPr>
          <p:cNvPr id="7" name="Text 4"/>
          <p:cNvSpPr txBox="1"/>
          <p:nvPr/>
        </p:nvSpPr>
        <p:spPr>
          <a:xfrm>
            <a:off x="4389120" y="3474720"/>
            <a:ext cx="3291840" cy="822960"/>
          </a:xfrm>
          <a:prstGeom prst="rect">
            <a:avLst/>
          </a:prstGeom>
          <a:noFill/>
          <a:ln/>
        </p:spPr>
        <p:txBody>
          <a:bodyPr wrap="square" lIns="0" tIns="0" rIns="0" bIns="0" rtlCol="0" anchor="t"/>
          <a:lstStyle/>
          <a:p>
            <a:pPr indent="0" marL="0">
              <a:buNone/>
            </a:pPr>
            <a:r>
              <a:rPr lang="en-US" sz="4800" b="1" dirty="0">
                <a:solidFill>
                  <a:srgbClr val="C9A227"/>
                </a:solidFill>
                <a:latin typeface="Cambria" pitchFamily="34" charset="0"/>
                <a:ea typeface="Cambria" pitchFamily="34" charset="-122"/>
                <a:cs typeface="Cambria" pitchFamily="34" charset="-120"/>
              </a:rPr>
              <a:t>4</a:t>
            </a:r>
            <a:endParaRPr lang="en-US" sz="4800" dirty="0"/>
          </a:p>
        </p:txBody>
      </p:sp>
      <p:sp>
        <p:nvSpPr>
          <p:cNvPr id="8" name="Text 5"/>
          <p:cNvSpPr txBox="1"/>
          <p:nvPr/>
        </p:nvSpPr>
        <p:spPr>
          <a:xfrm>
            <a:off x="4389120" y="4297680"/>
            <a:ext cx="3200400" cy="640080"/>
          </a:xfrm>
          <a:prstGeom prst="rect">
            <a:avLst/>
          </a:prstGeom>
          <a:noFill/>
          <a:ln/>
        </p:spPr>
        <p:txBody>
          <a:bodyPr wrap="square" lIns="0" tIns="0" rIns="0" bIns="0" rtlCol="0" anchor="t"/>
          <a:lstStyle/>
          <a:p>
            <a:pPr indent="0" marL="0">
              <a:buNone/>
            </a:pPr>
            <a:r>
              <a:rPr lang="en-US" sz="1500" dirty="0">
                <a:solidFill>
                  <a:srgbClr val="8FB8B0"/>
                </a:solidFill>
                <a:latin typeface="Calibri" pitchFamily="34" charset="0"/>
                <a:ea typeface="Calibri" pitchFamily="34" charset="-122"/>
                <a:cs typeface="Calibri" pitchFamily="34" charset="-120"/>
              </a:rPr>
              <a:t>linked deliverables from one client file</a:t>
            </a:r>
            <a:endParaRPr lang="en-US" sz="1500" dirty="0"/>
          </a:p>
        </p:txBody>
      </p:sp>
      <p:sp>
        <p:nvSpPr>
          <p:cNvPr id="9" name="Text 6"/>
          <p:cNvSpPr txBox="1"/>
          <p:nvPr/>
        </p:nvSpPr>
        <p:spPr>
          <a:xfrm>
            <a:off x="8046720" y="3474720"/>
            <a:ext cx="3291840" cy="822960"/>
          </a:xfrm>
          <a:prstGeom prst="rect">
            <a:avLst/>
          </a:prstGeom>
          <a:noFill/>
          <a:ln/>
        </p:spPr>
        <p:txBody>
          <a:bodyPr wrap="square" lIns="0" tIns="0" rIns="0" bIns="0" rtlCol="0" anchor="t"/>
          <a:lstStyle/>
          <a:p>
            <a:pPr indent="0" marL="0">
              <a:buNone/>
            </a:pPr>
            <a:r>
              <a:rPr lang="en-US" sz="4800" b="1" dirty="0">
                <a:solidFill>
                  <a:srgbClr val="C9A227"/>
                </a:solidFill>
                <a:latin typeface="Cambria" pitchFamily="34" charset="0"/>
                <a:ea typeface="Cambria" pitchFamily="34" charset="-122"/>
                <a:cs typeface="Cambria" pitchFamily="34" charset="-120"/>
              </a:rPr>
              <a:t>1</a:t>
            </a:r>
            <a:endParaRPr lang="en-US" sz="4800" dirty="0"/>
          </a:p>
        </p:txBody>
      </p:sp>
      <p:sp>
        <p:nvSpPr>
          <p:cNvPr id="10" name="Text 7"/>
          <p:cNvSpPr txBox="1"/>
          <p:nvPr/>
        </p:nvSpPr>
        <p:spPr>
          <a:xfrm>
            <a:off x="8046720" y="4297680"/>
            <a:ext cx="3200400" cy="640080"/>
          </a:xfrm>
          <a:prstGeom prst="rect">
            <a:avLst/>
          </a:prstGeom>
          <a:noFill/>
          <a:ln/>
        </p:spPr>
        <p:txBody>
          <a:bodyPr wrap="square" lIns="0" tIns="0" rIns="0" bIns="0" rtlCol="0" anchor="t"/>
          <a:lstStyle/>
          <a:p>
            <a:pPr indent="0" marL="0">
              <a:buNone/>
            </a:pPr>
            <a:r>
              <a:rPr lang="en-US" sz="1500" dirty="0">
                <a:solidFill>
                  <a:srgbClr val="8FB8B0"/>
                </a:solidFill>
                <a:latin typeface="Calibri" pitchFamily="34" charset="0"/>
                <a:ea typeface="Calibri" pitchFamily="34" charset="-122"/>
                <a:cs typeface="Calibri" pitchFamily="34" charset="-120"/>
              </a:rPr>
              <a:t>mandatory human checkpoint, every cycle</a:t>
            </a:r>
            <a:endParaRPr lang="en-US" sz="1500" dirty="0"/>
          </a:p>
        </p:txBody>
      </p:sp>
      <p:sp>
        <p:nvSpPr>
          <p:cNvPr id="11" name="Text 8"/>
          <p:cNvSpPr txBox="1"/>
          <p:nvPr/>
        </p:nvSpPr>
        <p:spPr>
          <a:xfrm>
            <a:off x="731520" y="5486400"/>
            <a:ext cx="1060704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Proposed next step: agree two or three closed engagements for a 30-day pilot.</a:t>
            </a:r>
            <a:endParaRPr lang="en-US" sz="1800" dirty="0"/>
          </a:p>
        </p:txBody>
      </p:sp>
    </p:spTree>
  </p:cSld>
  <p:clrMapOvr>
    <a:masterClrMapping/>
  </p:clrMapOvr>
</p:sld>
</file>

<file path=ppt/theme/theme1.xml><?xml version="1.0" encoding="utf-8"?>
<a:theme xmlns:a="http://schemas.openxmlformats.org/drawingml/2006/main" name="Ledger Pine">
  <a:themeElements>
    <a:clrScheme name="Ledger Pine">
      <a:dk1>
        <a:srgbClr val="1F2A2E"/>
      </a:dk1>
      <a:lt1>
        <a:srgbClr val="FFFFFF"/>
      </a:lt1>
      <a:dk2>
        <a:srgbClr val="0B3D3A"/>
      </a:dk2>
      <a:lt2>
        <a:srgbClr val="EEF4F2"/>
      </a:lt2>
      <a:accent1>
        <a:srgbClr val="0B3D3A"/>
      </a:accent1>
      <a:accent2>
        <a:srgbClr val="C9A227"/>
      </a:accent2>
      <a:accent3>
        <a:srgbClr val="3E7C74"/>
      </a:accent3>
      <a:accent4>
        <a:srgbClr val="8FB8B0"/>
      </a:accent4>
      <a:accent5>
        <a:srgbClr val="B5462F"/>
      </a:accent5>
      <a:accent6>
        <a:srgbClr val="6B7B80"/>
      </a:accent6>
      <a:hlink>
        <a:srgbClr val="3E7C74"/>
      </a:hlink>
      <a:folHlink>
        <a:srgbClr val="6B7B80"/>
      </a:folHlink>
    </a:clrScheme>
    <a:fontScheme name="Ledger P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Review Automation Agent - Sales Pitch</dc:title>
  <dc:subject>PptxGenJS Presentation</dc:subject>
  <dc:creator>Business Review Automation Agent</dc:creator>
  <cp:lastModifiedBy>Business Review Automation Agent</cp:lastModifiedBy>
  <cp:revision>1</cp:revision>
  <dcterms:created xsi:type="dcterms:W3CDTF">2026-10-31T22:49:28Z</dcterms:created>
  <dcterms:modified xsi:type="dcterms:W3CDTF">2026-10-31T22:49:28Z</dcterms:modified>
</cp:coreProperties>
</file>